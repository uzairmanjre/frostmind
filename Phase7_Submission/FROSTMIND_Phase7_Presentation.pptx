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74b1a13-283c-461f-f34d-ac841fe8ba06}">
          <p14:sldIdLst>
            <p14:sldId id="256"/>
            <p14:sldId id="257"/>
          </p14:sldIdLst>
        </p14:section>
        <p14:section name="The system" id="{56de45a5-e23d-7005-f2bc-11a5a9f20059}">
          <p14:sldIdLst>
            <p14:sldId id="258"/>
            <p14:sldId id="259"/>
          </p14:sldIdLst>
        </p14:section>
        <p14:section name="Intelligence" id="{3227efed-d0ba-c0fe-1eba-358362b25a7f}">
          <p14:sldIdLst>
            <p14:sldId id="260"/>
            <p14:sldId id="261"/>
            <p14:sldId id="262"/>
          </p14:sldIdLst>
        </p14:section>
        <p14:section name="Deployment &amp; usability" id="{fbf74db6-cb9b-f9cf-401c-aa395578d239}">
          <p14:sldIdLst>
            <p14:sldId id="263"/>
            <p14:sldId id="264"/>
            <p14:sldId id="265"/>
            <p14:sldId id="266"/>
            <p14:sldId id="267"/>
          </p14:sldIdLst>
        </p14:section>
        <p14:section name="Quality &amp; demo" id="{ea6d8759-a71d-ffe9-fdc4-eb238f7d8597}">
          <p14:sldIdLst>
            <p14:sldId id="268"/>
            <p14:sldId id="269"/>
          </p14:sldIdLst>
        </p14:section>
        <p14:section name="Looking ahead" id="{a4b306af-5bdd-cdfe-16f8-5a6a3d0bf075}">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1736"/>
                </a:solidFill>
                <a:latin typeface="+mn-lt"/>
              </a:defRPr>
            </a:pPr>
            <a:r>
              <a:rPr sz="1200" b="0" i="0" u="none" strike="noStrike">
                <a:solidFill>
                  <a:srgbClr val="0B1736"/>
                </a:solidFill>
                <a:latin typeface="+mn-lt"/>
              </a:rPr>
              <a:t>Mean absolute error, °C (lower is better)</a:t>
            </a:r>
          </a:p>
        </c:rich>
      </c:tx>
      <c:layout/>
      <c:overlay val="0"/>
    </c:title>
    <c:autoTitleDeleted val="0"/>
    <c:plotArea>
      <c:layout/>
      <c:barChart>
        <c:barDir val="bar"/>
        <c:grouping val="clustered"/>
        <c:varyColors val="0"/>
        <c:ser>
          <c:idx val="0"/>
          <c:order val="0"/>
          <c:tx>
            <c:strRef>
              <c:f>Sheet1!$B$1</c:f>
              <c:strCache>
                <c:ptCount val="1"/>
                <c:pt idx="0">
                  <c:v>MAE (°C)</c:v>
                </c:pt>
              </c:strCache>
            </c:strRef>
          </c:tx>
          <c:spPr>
            <a:solidFill>
              <a:srgbClr val="2457FF"/>
            </a:solidFill>
            <a:effectLst/>
          </c:spPr>
          <c:invertIfNegative val="0"/>
          <c:dLbls>
            <c:numFmt formatCode="0.00" sourceLinked="0"/>
            <c:txPr>
              <a:bodyPr/>
              <a:lstStyle/>
              <a:p>
                <a:pPr>
                  <a:defRPr b="0" i="0" strike="noStrike" sz="1100" u="none">
                    <a:solidFill>
                      <a:srgbClr val="0B1736"/>
                    </a:solidFill>
                    <a:latin typeface="+mn-lt"/>
                  </a:defRPr>
                </a:pPr>
              </a:p>
            </c:txPr>
            <c:showLegendKey val="0"/>
            <c:showVal val="1"/>
            <c:showCatName val="0"/>
            <c:showSerName val="0"/>
            <c:showPercent val="0"/>
            <c:showBubbleSize val="0"/>
            <c:showLeaderLines val="0"/>
          </c:dLbls>
          <c:dPt>
            <c:idx val="0"/>
            <c:invertIfNegative val="0"/>
            <c:bubble3D val="0"/>
            <c:spPr>
              <a:solidFill>
                <a:srgbClr val="2457FF"/>
              </a:solidFill>
              <a:effectLst/>
            </c:spPr>
          </c:dPt>
          <c:dPt>
            <c:idx val="1"/>
            <c:invertIfNegative val="0"/>
            <c:bubble3D val="0"/>
            <c:spPr>
              <a:solidFill>
                <a:srgbClr val="5B6785"/>
              </a:solidFill>
              <a:effectLst/>
            </c:spPr>
          </c:dPt>
          <c:dPt>
            <c:idx val="2"/>
            <c:invertIfNegative val="0"/>
            <c:bubble3D val="0"/>
            <c:spPr>
              <a:solidFill>
                <a:srgbClr val="5B6785"/>
              </a:solidFill>
              <a:effectLst/>
            </c:spPr>
          </c:dPt>
          <c:dPt>
            <c:idx val="3"/>
            <c:invertIfNegative val="0"/>
            <c:bubble3D val="0"/>
            <c:spPr>
              <a:solidFill>
                <a:srgbClr val="5B6785"/>
              </a:solidFill>
              <a:effectLst/>
            </c:spPr>
          </c:dPt>
          <c:cat>
            <c:multiLvlStrRef>
              <c:f>Sheet1!$A$2:$A$5</c:f>
              <c:multiLvlStrCache>
                <c:ptCount val="4"/>
                <c:lvl>
                  <c:pt idx="0">
                    <c:v>Model 4</c:v>
                  </c:pt>
                  <c:pt idx="1">
                    <c:v>Warmest product</c:v>
                  </c:pt>
                  <c:pt idx="2">
                    <c:v>Range midpoint</c:v>
                  </c:pt>
                  <c:pt idx="3">
                    <c:v>Weighted mean</c:v>
                  </c:pt>
                </c:lvl>
              </c:multiLvlStrCache>
            </c:multiLvlStrRef>
          </c:cat>
          <c:val>
            <c:numRef>
              <c:f>Sheet1!$B$2:$B$5</c:f>
              <c:numCache>
                <c:formatCode>General</c:formatCode>
                <c:ptCount val="4"/>
                <c:pt idx="0">
                  <c:v>0.16</c:v>
                </c:pt>
                <c:pt idx="1">
                  <c:v>1.36</c:v>
                </c:pt>
                <c:pt idx="2">
                  <c:v>1.32</c:v>
                </c:pt>
                <c:pt idx="3">
                  <c:v>1.42</c:v>
                </c:pt>
              </c:numCache>
            </c:numRef>
          </c:val>
        </c:ser>
        <c:dLbls>
          <c:numFmt formatCode="0.00" sourceLinked="0"/>
          <c:txPr>
            <a:bodyPr/>
            <a:lstStyle/>
            <a:p>
              <a:pPr>
                <a:defRPr b="0" i="0" strike="noStrike" sz="1100" u="none">
                  <a:solidFill>
                    <a:srgbClr val="0B173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B6785"/>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1736"/>
                </a:solidFill>
                <a:latin typeface="+mn-lt"/>
              </a:defRPr>
            </a:pPr>
            <a:r>
              <a:rPr sz="1200" b="0" i="0" u="none" strike="noStrike">
                <a:solidFill>
                  <a:srgbClr val="0B1736"/>
                </a:solidFill>
                <a:latin typeface="+mn-lt"/>
              </a:rPr>
              <a:t>ROC-AUC (higher is better)</a:t>
            </a:r>
          </a:p>
        </c:rich>
      </c:tx>
      <c:layout/>
      <c:overlay val="0"/>
    </c:title>
    <c:autoTitleDeleted val="0"/>
    <c:plotArea>
      <c:layout/>
      <c:barChart>
        <c:barDir val="bar"/>
        <c:grouping val="clustered"/>
        <c:varyColors val="0"/>
        <c:ser>
          <c:idx val="0"/>
          <c:order val="0"/>
          <c:tx>
            <c:strRef>
              <c:f>Sheet1!$B$1</c:f>
              <c:strCache>
                <c:ptCount val="1"/>
                <c:pt idx="0">
                  <c:v>ROC-AUC</c:v>
                </c:pt>
              </c:strCache>
            </c:strRef>
          </c:tx>
          <c:spPr>
            <a:solidFill>
              <a:srgbClr val="2457FF"/>
            </a:solidFill>
            <a:effectLst/>
          </c:spPr>
          <c:invertIfNegative val="0"/>
          <c:dLbls>
            <c:numFmt formatCode="0.000" sourceLinked="0"/>
            <c:txPr>
              <a:bodyPr/>
              <a:lstStyle/>
              <a:p>
                <a:pPr>
                  <a:defRPr b="0" i="0" strike="noStrike" sz="1100" u="none">
                    <a:solidFill>
                      <a:srgbClr val="0B1736"/>
                    </a:solidFill>
                    <a:latin typeface="+mn-lt"/>
                  </a:defRPr>
                </a:pPr>
              </a:p>
            </c:txPr>
            <c:showLegendKey val="0"/>
            <c:showVal val="1"/>
            <c:showCatName val="0"/>
            <c:showSerName val="0"/>
            <c:showPercent val="0"/>
            <c:showBubbleSize val="0"/>
            <c:showLeaderLines val="0"/>
          </c:dLbls>
          <c:dPt>
            <c:idx val="0"/>
            <c:invertIfNegative val="0"/>
            <c:bubble3D val="0"/>
            <c:spPr>
              <a:solidFill>
                <a:srgbClr val="2457FF"/>
              </a:solidFill>
              <a:effectLst/>
            </c:spPr>
          </c:dPt>
          <c:dPt>
            <c:idx val="1"/>
            <c:invertIfNegative val="0"/>
            <c:bubble3D val="0"/>
            <c:spPr>
              <a:solidFill>
                <a:srgbClr val="5B6785"/>
              </a:solidFill>
              <a:effectLst/>
            </c:spPr>
          </c:dPt>
          <c:dPt>
            <c:idx val="2"/>
            <c:invertIfNegative val="0"/>
            <c:bubble3D val="0"/>
            <c:spPr>
              <a:solidFill>
                <a:srgbClr val="5B6785"/>
              </a:solidFill>
              <a:effectLst/>
            </c:spPr>
          </c:dPt>
          <c:dPt>
            <c:idx val="3"/>
            <c:invertIfNegative val="0"/>
            <c:bubble3D val="0"/>
            <c:spPr>
              <a:solidFill>
                <a:srgbClr val="5B6785"/>
              </a:solidFill>
              <a:effectLst/>
            </c:spPr>
          </c:dPt>
          <c:cat>
            <c:multiLvlStrRef>
              <c:f>Sheet1!$A$2:$A$5</c:f>
              <c:multiLvlStrCache>
                <c:ptCount val="4"/>
                <c:lvl>
                  <c:pt idx="0">
                    <c:v>Model 5 (RF)</c:v>
                  </c:pt>
                  <c:pt idx="1">
                    <c:v>Logistic regression</c:v>
                  </c:pt>
                  <c:pt idx="2">
                    <c:v>Rule: T-opt within 2 °C</c:v>
                  </c:pt>
                  <c:pt idx="3">
                    <c:v>Rule: overlap, no ethylene</c:v>
                  </c:pt>
                </c:lvl>
              </c:multiLvlStrCache>
            </c:multiLvlStrRef>
          </c:cat>
          <c:val>
            <c:numRef>
              <c:f>Sheet1!$B$2:$B$5</c:f>
              <c:numCache>
                <c:formatCode>General</c:formatCode>
                <c:ptCount val="4"/>
                <c:pt idx="0">
                  <c:v>0.93</c:v>
                </c:pt>
                <c:pt idx="1">
                  <c:v>0.915</c:v>
                </c:pt>
                <c:pt idx="2">
                  <c:v>0.839</c:v>
                </c:pt>
                <c:pt idx="3">
                  <c:v>0.808</c:v>
                </c:pt>
              </c:numCache>
            </c:numRef>
          </c:val>
        </c:ser>
        <c:dLbls>
          <c:numFmt formatCode="0.000" sourceLinked="0"/>
          <c:txPr>
            <a:bodyPr/>
            <a:lstStyle/>
            <a:p>
              <a:pPr>
                <a:defRPr b="0" i="0" strike="noStrike" sz="1100" u="none">
                  <a:solidFill>
                    <a:srgbClr val="0B173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B6785"/>
                </a:solidFill>
                <a:latin typeface="+mn-lt"/>
              </a:defRPr>
            </a:pPr>
            <a:endParaRPr lang="en-US"/>
          </a:p>
        </c:txPr>
        <c:crossAx val="2094734552"/>
        <c:crosses val="autoZero"/>
        <c:auto val="1"/>
        <c:lblAlgn val="ctr"/>
        <c:noMultiLvlLbl val="1"/>
      </c:catAx>
      <c:valAx>
        <c:axId val="2094734552"/>
        <c:scaling>
          <c:orientation val="minMax"/>
          <c:max val="1"/>
          <c:min val="0.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one-line idea: FROSTMIND watches a refrigerated load, corrects the cooling unit by itself, and explains what happened. The row of dots is the box's 11-LED status strip, which you'll see working in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loggers only record; by the time someone reads the log the product is lost. Our answer in three verbs. Stress that the box acts on its own (IR) and that all AI, including the LLM, runs locally.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the ESP32 senses and acts; the phone bridges Bluetooth to HTTPS because the box has no internet radio; the FastAPI backend stores readings and runs the models; the admin panel is the fleet manager's view; the LLM sits beside the backend and only writes explanations.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Parts: DHT22 on D8, reed switch on D4, IR LED on D5, 11-LED WS2812 strip on D3, all on one ground rail. Lesson learned: on the XIAO ESP32-S3 the D-number is not the GPIO number, which caused our early 'dead LED' bugs; every pin table now lists the pad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 principle: rules and physics where there is no data yet, machine learning where real labelled data exists, and the LLM only explains. Only deterministic logic (Model 0) is allowed to trigger a physical action. Model 1 is trained and validated but correctly switched off until we have our own logged sessions; Model 2 needs a current sensor we never got, so we didn't fake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4: a physics optimiser (the teacher) finds the temperature that minimises quality loss across all products, including chilling injury, freezing and the truck's real temperature wobble; a gradient-boosting student learned from 16,000 simulated loads and was tested on 4,000 loads of products it never saw. It's served only if it agrees with physics to 0.5 °C. Model 5: trained on 5,671 USDA expert-labelled pairs, evaluated on unseen products over 30 random splits; regulatory vetoes are added on top, and every 'keep apart' comes with a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3 turns the temperature history into shelf life used, per product; for a mixed load the most perishable product drives the number. The LLM gets the alert plus the model outputs and writes an assessment with a 'Do:' action. It runs in the background with a timeout and can never trigger anything physical. The quote is from our own end-to-end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runs on one laptop on the same Wi-Fi as the phone. The phone opens the HTTPS app on port 5500 and talks to the backend on 8000; the admin panel is on 3000; Ollama is local on 11434. The ESP32 only talks to the phone over Bluetooth.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came from a real requirement: the system must run on a different laptop later without editing any address. Nothing in the code is tied to an IP. The model files aren't in Git, so a fresh laptop trains them with train_all.py.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wizard never finishes on faith: step 5 waits for real readings (device to phone), and the Identify button makes the box play a rainbow (phone to device). Step 3 is where Models 4 and 5 meet the driver.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Glanceable status for the driver. Before a phone connects: only a blue beacon, because nobody would see an alarm. During setup: a three-step checklist. Live: just the shelf-life bar on idle; problems replace it one at a time. 60 fps, gamma-corrected, cross-fades, no layering. Press d in the console for the full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Usability evidence: every one of these came from running the real system on real hardware with a real phone, and each fix is in the code. This is our usability-testing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Tests cover ingest and alerts, shelf life, thresholds, device auth, GPS, the LLM orchestrator, the Model 1 seam, analytics, the planner and mixed loads. Be honest about what's still to verify on hardware: the IR LED and AC pairing.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demo: start the launcher, accept certificates, warm up the LLM with Test LLM on the AI Models page, and keep the sensor in a cool box with an ice pack so the live view starts at the shelf-life bar. Take it out to show the alarm.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in order: switch on Model 1 with our own data; add the current sensor for Model 2; OTA updates; remove the phone dependency with cellular or LoRa; then cloud deployment, multi-tenancy and a native app for 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Maintenance is built in: every component reports its status (/health and the AI Models page), models retrain with one command and only replace the old ones if their scores hold, schema changes never delete data, and the certificate renews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three verbs. Likely questions: why not a cloud LLM (privacy, cost, works without internet); why Model 1 isn't live (needs our own data, and would be confidently wrong across product bands); what if the LLM is wrong (it can't act; the deterministic alert stands).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ROST_TITLE">
    <p:bg>
      <p:bgPr>
        <a:solidFill>
          <a:srgbClr val="0B173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48840"/>
            <a:ext cx="10698480" cy="1188720"/>
          </a:xfrm>
          <a:prstGeom prst="rect">
            <a:avLst/>
          </a:prstGeom>
          <a:noFill/>
          <a:ln/>
        </p:spPr>
        <p:txBody>
          <a:bodyPr wrap="square" rtlCol="0"/>
          <a:lstStyle>
            <a:lvl1pPr algn="l" indent="0" marL="0">
              <a:buNone/>
              <a:defRPr lang="en-US" sz="6000" b="1" dirty="0">
                <a:solidFill>
                  <a:schemeClr val="bg1"/>
                </a:solidFill>
                <a:latin typeface="Calibri" pitchFamily="34" charset="0"/>
                <a:ea typeface="Calibri" pitchFamily="34" charset="-122"/>
                <a:cs typeface="Calibri" pitchFamily="34" charset="-120"/>
              </a:defRPr>
            </a:lvl1pPr>
          </a:lstStyle>
          <a:p>
            <a:pPr algn="l" indent="0" marL="0">
              <a:buNone/>
            </a:pPr>
            <a:endParaRPr lang="en-US" sz="6000" dirty="0"/>
          </a:p>
        </p:txBody>
      </p:sp>
      <p:sp>
        <p:nvSpPr>
          <p:cNvPr id="3" name="Text 0"/>
          <p:cNvSpPr/>
          <p:nvPr>
            <p:ph idx="101" type="body" hasCustomPrompt="1"/>
          </p:nvPr>
        </p:nvSpPr>
        <p:spPr>
          <a:xfrm>
            <a:off x="731520" y="3429000"/>
            <a:ext cx="10698480" cy="1097280"/>
          </a:xfrm>
          <a:prstGeom prst="rect">
            <a:avLst/>
          </a:prstGeom>
          <a:noFill/>
          <a:ln/>
        </p:spPr>
        <p:txBody>
          <a:bodyPr wrap="square" rtlCol="0"/>
          <a:lstStyle>
            <a:lvl1pPr algn="l" indent="0" marL="0">
              <a:buNone/>
              <a:defRPr lang="en-US" sz="2400" dirty="0">
                <a:solidFill>
                  <a:schemeClr val="accent2"/>
                </a:solidFill>
              </a:defRPr>
            </a:lvl1pPr>
          </a:lstStyle>
          <a:p>
            <a:pPr algn="l"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ROST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rtlCol="0"/>
          <a:lstStyle>
            <a:lvl1pPr algn="l" indent="0" marL="0">
              <a:buNone/>
              <a:defRPr lang="en-US" sz="3200" b="1" dirty="0">
                <a:solidFill>
                  <a:schemeClr val="tx1"/>
                </a:solidFill>
                <a:latin typeface="Calibri" pitchFamily="34" charset="0"/>
                <a:ea typeface="Calibri" pitchFamily="34" charset="-122"/>
                <a:cs typeface="Calibri" pitchFamily="34" charset="-120"/>
              </a:defRPr>
            </a:lvl1pPr>
          </a:lstStyle>
          <a:p>
            <a:pPr algn="l" indent="0" marL="0">
              <a:buNone/>
            </a:pPr>
            <a:endParaRPr lang="en-US" sz="3200" dirty="0"/>
          </a:p>
        </p:txBody>
      </p:sp>
      <p:sp>
        <p:nvSpPr>
          <p:cNvPr id="3" name="Text 0"/>
          <p:cNvSpPr/>
          <p:nvPr/>
        </p:nvSpPr>
        <p:spPr>
          <a:xfrm>
            <a:off x="548640" y="6419088"/>
            <a:ext cx="4572000" cy="274320"/>
          </a:xfrm>
          <a:prstGeom prst="rect">
            <a:avLst/>
          </a:prstGeom>
          <a:noFill/>
          <a:ln/>
        </p:spPr>
        <p:txBody>
          <a:bodyPr wrap="square" lIns="0" tIns="0" rIns="0" bIns="0" rtlCol="0" anchor="ctr"/>
          <a:lstStyle/>
          <a:p>
            <a:pPr indent="0" marL="0">
              <a:buNone/>
            </a:pPr>
            <a:r>
              <a:rPr lang="en-US" sz="1000" dirty="0">
                <a:solidFill>
                  <a:schemeClr val="tx2"/>
                </a:solidFill>
              </a:rPr>
              <a:t>FROSTMIND  |  Phase 7</a:t>
            </a:r>
            <a:endParaRPr lang="en-US" sz="1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8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8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jp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3.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48840"/>
            <a:ext cx="10698480" cy="1188720"/>
          </a:xfrm>
          <a:prstGeom prst="rect">
            <a:avLst/>
          </a:prstGeom>
          <a:noFill/>
          <a:ln/>
        </p:spPr>
        <p:txBody>
          <a:bodyPr wrap="square" lIns="0" tIns="0" rIns="0" bIns="0" rtlCol="0" anchor="b"/>
          <a:lstStyle/>
          <a:p>
            <a:pPr algn="l" indent="0" marL="0">
              <a:buNone/>
            </a:pPr>
            <a:r>
              <a:rPr lang="en-US" sz="6000" b="1" dirty="0">
                <a:solidFill>
                  <a:schemeClr val="bg1"/>
                </a:solidFill>
                <a:latin typeface="Calibri" pitchFamily="34" charset="0"/>
                <a:ea typeface="Calibri" pitchFamily="34" charset="-122"/>
                <a:cs typeface="Calibri" pitchFamily="34" charset="-120"/>
              </a:rPr>
              <a:t>FROSTMIND</a:t>
            </a:r>
            <a:endParaRPr lang="en-US" sz="6000" dirty="0"/>
          </a:p>
        </p:txBody>
      </p:sp>
      <p:sp>
        <p:nvSpPr>
          <p:cNvPr id="3" name="Text 0"/>
          <p:cNvSpPr/>
          <p:nvPr>
            <p:ph idx="101" type="body" hasCustomPrompt="1"/>
          </p:nvPr>
        </p:nvSpPr>
        <p:spPr>
          <a:xfrm>
            <a:off x="731520" y="3429000"/>
            <a:ext cx="10698480" cy="1097280"/>
          </a:xfrm>
          <a:prstGeom prst="rect">
            <a:avLst/>
          </a:prstGeom>
          <a:noFill/>
          <a:ln/>
        </p:spPr>
        <p:txBody>
          <a:bodyPr wrap="square" lIns="0" tIns="0" rIns="0" bIns="0" rtlCol="0" anchor="t"/>
          <a:lstStyle/>
          <a:p>
            <a:pPr algn="l" indent="0" marL="0">
              <a:buNone/>
            </a:pPr>
            <a:r>
              <a:rPr lang="en-US" sz="2400" dirty="0">
                <a:solidFill>
                  <a:schemeClr val="accent2"/>
                </a:solidFill>
              </a:rPr>
              <a:t>AI-driven cold-chain monitoring and intervention</a:t>
            </a:r>
            <a:endParaRPr lang="en-US" sz="2400" dirty="0"/>
          </a:p>
        </p:txBody>
      </p:sp>
      <p:sp>
        <p:nvSpPr>
          <p:cNvPr id="4" name="strip led 1"/>
          <p:cNvSpPr/>
          <p:nvPr/>
        </p:nvSpPr>
        <p:spPr>
          <a:xfrm>
            <a:off x="731520" y="1463040"/>
            <a:ext cx="201168" cy="201168"/>
          </a:xfrm>
          <a:prstGeom prst="ellipse">
            <a:avLst/>
          </a:prstGeom>
          <a:solidFill>
            <a:srgbClr val="45D4FF"/>
          </a:solidFill>
          <a:ln w="12700">
            <a:solidFill>
              <a:srgbClr val="45D4FF"/>
            </a:solidFill>
            <a:prstDash val="solid"/>
          </a:ln>
        </p:spPr>
      </p:sp>
      <p:sp>
        <p:nvSpPr>
          <p:cNvPr id="5" name="strip led 2"/>
          <p:cNvSpPr/>
          <p:nvPr/>
        </p:nvSpPr>
        <p:spPr>
          <a:xfrm>
            <a:off x="1078992" y="1463040"/>
            <a:ext cx="201168" cy="201168"/>
          </a:xfrm>
          <a:prstGeom prst="ellipse">
            <a:avLst/>
          </a:prstGeom>
          <a:solidFill>
            <a:srgbClr val="45D4FF"/>
          </a:solidFill>
          <a:ln w="12700">
            <a:solidFill>
              <a:srgbClr val="45D4FF"/>
            </a:solidFill>
            <a:prstDash val="solid"/>
          </a:ln>
        </p:spPr>
      </p:sp>
      <p:sp>
        <p:nvSpPr>
          <p:cNvPr id="6" name="strip led 3"/>
          <p:cNvSpPr/>
          <p:nvPr/>
        </p:nvSpPr>
        <p:spPr>
          <a:xfrm>
            <a:off x="1426464" y="1463040"/>
            <a:ext cx="201168" cy="201168"/>
          </a:xfrm>
          <a:prstGeom prst="ellipse">
            <a:avLst/>
          </a:prstGeom>
          <a:solidFill>
            <a:srgbClr val="2EF29C"/>
          </a:solidFill>
          <a:ln w="12700">
            <a:solidFill>
              <a:srgbClr val="2EF29C"/>
            </a:solidFill>
            <a:prstDash val="solid"/>
          </a:ln>
        </p:spPr>
      </p:sp>
      <p:sp>
        <p:nvSpPr>
          <p:cNvPr id="7" name="strip led 4"/>
          <p:cNvSpPr/>
          <p:nvPr/>
        </p:nvSpPr>
        <p:spPr>
          <a:xfrm>
            <a:off x="1773936" y="1463040"/>
            <a:ext cx="201168" cy="201168"/>
          </a:xfrm>
          <a:prstGeom prst="ellipse">
            <a:avLst/>
          </a:prstGeom>
          <a:solidFill>
            <a:srgbClr val="2EF29C"/>
          </a:solidFill>
          <a:ln w="12700">
            <a:solidFill>
              <a:srgbClr val="2EF29C"/>
            </a:solidFill>
            <a:prstDash val="solid"/>
          </a:ln>
        </p:spPr>
      </p:sp>
      <p:sp>
        <p:nvSpPr>
          <p:cNvPr id="8" name="strip led 5"/>
          <p:cNvSpPr/>
          <p:nvPr/>
        </p:nvSpPr>
        <p:spPr>
          <a:xfrm>
            <a:off x="2121408" y="1463040"/>
            <a:ext cx="201168" cy="201168"/>
          </a:xfrm>
          <a:prstGeom prst="ellipse">
            <a:avLst/>
          </a:prstGeom>
          <a:solidFill>
            <a:srgbClr val="B6F03A"/>
          </a:solidFill>
          <a:ln w="12700">
            <a:solidFill>
              <a:srgbClr val="B6F03A"/>
            </a:solidFill>
            <a:prstDash val="solid"/>
          </a:ln>
        </p:spPr>
      </p:sp>
      <p:sp>
        <p:nvSpPr>
          <p:cNvPr id="9" name="strip led 6"/>
          <p:cNvSpPr/>
          <p:nvPr/>
        </p:nvSpPr>
        <p:spPr>
          <a:xfrm>
            <a:off x="2468880" y="1463040"/>
            <a:ext cx="201168" cy="201168"/>
          </a:xfrm>
          <a:prstGeom prst="ellipse">
            <a:avLst/>
          </a:prstGeom>
          <a:solidFill>
            <a:srgbClr val="B6F03A"/>
          </a:solidFill>
          <a:ln w="12700">
            <a:solidFill>
              <a:srgbClr val="B6F03A"/>
            </a:solidFill>
            <a:prstDash val="solid"/>
          </a:ln>
        </p:spPr>
      </p:sp>
      <p:sp>
        <p:nvSpPr>
          <p:cNvPr id="10" name="strip led 7"/>
          <p:cNvSpPr/>
          <p:nvPr/>
        </p:nvSpPr>
        <p:spPr>
          <a:xfrm>
            <a:off x="2816352" y="1463040"/>
            <a:ext cx="201168" cy="201168"/>
          </a:xfrm>
          <a:prstGeom prst="ellipse">
            <a:avLst/>
          </a:prstGeom>
          <a:solidFill>
            <a:srgbClr val="FF9A14"/>
          </a:solidFill>
          <a:ln w="12700">
            <a:solidFill>
              <a:srgbClr val="FF9A14"/>
            </a:solidFill>
            <a:prstDash val="solid"/>
          </a:ln>
        </p:spPr>
      </p:sp>
      <p:sp>
        <p:nvSpPr>
          <p:cNvPr id="11" name="strip led 8"/>
          <p:cNvSpPr/>
          <p:nvPr/>
        </p:nvSpPr>
        <p:spPr>
          <a:xfrm>
            <a:off x="3163824" y="1463040"/>
            <a:ext cx="201168" cy="201168"/>
          </a:xfrm>
          <a:prstGeom prst="ellipse">
            <a:avLst/>
          </a:prstGeom>
          <a:solidFill>
            <a:srgbClr val="FF2A4A"/>
          </a:solidFill>
          <a:ln w="12700">
            <a:solidFill>
              <a:srgbClr val="FF2A4A"/>
            </a:solidFill>
            <a:prstDash val="solid"/>
          </a:ln>
        </p:spPr>
      </p:sp>
      <p:sp>
        <p:nvSpPr>
          <p:cNvPr id="12" name="strip led 9"/>
          <p:cNvSpPr/>
          <p:nvPr/>
        </p:nvSpPr>
        <p:spPr>
          <a:xfrm>
            <a:off x="3511296" y="1463040"/>
            <a:ext cx="201168" cy="201168"/>
          </a:xfrm>
          <a:prstGeom prst="ellipse">
            <a:avLst/>
          </a:prstGeom>
          <a:solidFill>
            <a:srgbClr val="9B4DFF"/>
          </a:solidFill>
          <a:ln w="12700">
            <a:solidFill>
              <a:srgbClr val="9B4DFF"/>
            </a:solidFill>
            <a:prstDash val="solid"/>
          </a:ln>
        </p:spPr>
      </p:sp>
      <p:sp>
        <p:nvSpPr>
          <p:cNvPr id="13" name="strip led 10"/>
          <p:cNvSpPr/>
          <p:nvPr/>
        </p:nvSpPr>
        <p:spPr>
          <a:xfrm>
            <a:off x="3858768" y="1463040"/>
            <a:ext cx="201168" cy="201168"/>
          </a:xfrm>
          <a:prstGeom prst="ellipse">
            <a:avLst/>
          </a:prstGeom>
          <a:solidFill>
            <a:srgbClr val="FF4FB0"/>
          </a:solidFill>
          <a:ln w="12700">
            <a:solidFill>
              <a:srgbClr val="FF4FB0"/>
            </a:solidFill>
            <a:prstDash val="solid"/>
          </a:ln>
        </p:spPr>
      </p:sp>
      <p:sp>
        <p:nvSpPr>
          <p:cNvPr id="14" name="strip led 11"/>
          <p:cNvSpPr/>
          <p:nvPr/>
        </p:nvSpPr>
        <p:spPr>
          <a:xfrm>
            <a:off x="4206240" y="1463040"/>
            <a:ext cx="201168" cy="201168"/>
          </a:xfrm>
          <a:prstGeom prst="ellipse">
            <a:avLst/>
          </a:prstGeom>
          <a:solidFill>
            <a:srgbClr val="3D6BFF"/>
          </a:solidFill>
          <a:ln w="12700">
            <a:solidFill>
              <a:srgbClr val="3D6BFF"/>
            </a:solidFill>
            <a:prstDash val="solid"/>
          </a:ln>
        </p:spPr>
      </p:sp>
      <p:sp>
        <p:nvSpPr>
          <p:cNvPr id="15" name="Text 13"/>
          <p:cNvSpPr txBox="1"/>
          <p:nvPr/>
        </p:nvSpPr>
        <p:spPr>
          <a:xfrm>
            <a:off x="731520" y="5120640"/>
            <a:ext cx="8229600" cy="365760"/>
          </a:xfrm>
          <a:prstGeom prst="rect">
            <a:avLst/>
          </a:prstGeom>
          <a:noFill/>
          <a:ln/>
        </p:spPr>
        <p:txBody>
          <a:bodyPr wrap="square" lIns="0" tIns="0" rIns="0" bIns="0" rtlCol="0" anchor="t"/>
          <a:lstStyle/>
          <a:p>
            <a:pPr indent="0" marL="0">
              <a:buNone/>
            </a:pPr>
            <a:r>
              <a:rPr lang="en-US" sz="1800" dirty="0">
                <a:solidFill>
                  <a:schemeClr val="bg1"/>
                </a:solidFill>
                <a:latin typeface="Calibri" pitchFamily="34" charset="0"/>
                <a:ea typeface="Calibri" pitchFamily="34" charset="-122"/>
                <a:cs typeface="Calibri" pitchFamily="34" charset="-120"/>
              </a:rPr>
              <a:t>Phase 7  |  Deployment, Documentation &amp; Presentation</a:t>
            </a:r>
            <a:endParaRPr lang="en-US" sz="1800" dirty="0"/>
          </a:p>
        </p:txBody>
      </p:sp>
      <p:sp>
        <p:nvSpPr>
          <p:cNvPr id="16" name="Text 14"/>
          <p:cNvSpPr txBox="1"/>
          <p:nvPr/>
        </p:nvSpPr>
        <p:spPr>
          <a:xfrm>
            <a:off x="731520" y="5532120"/>
            <a:ext cx="8229600" cy="365760"/>
          </a:xfrm>
          <a:prstGeom prst="rect">
            <a:avLst/>
          </a:prstGeom>
          <a:noFill/>
          <a:ln/>
        </p:spPr>
        <p:txBody>
          <a:bodyPr wrap="square" lIns="0" tIns="0" rIns="0" bIns="0" rtlCol="0" anchor="t"/>
          <a:lstStyle/>
          <a:p>
            <a:pPr indent="0" marL="0">
              <a:buNone/>
            </a:pPr>
            <a:r>
              <a:rPr lang="en-US" sz="1400" dirty="0">
                <a:solidFill>
                  <a:schemeClr val="accent2"/>
                </a:solidFill>
                <a:latin typeface="Calibri" pitchFamily="34" charset="0"/>
                <a:ea typeface="Calibri" pitchFamily="34" charset="-122"/>
                <a:cs typeface="Calibri" pitchFamily="34" charset="-120"/>
              </a:rPr>
              <a:t>Team FROSTMIND  |  AIoT project, Semester VII  |  November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libri" pitchFamily="34" charset="0"/>
                <a:ea typeface="Calibri" pitchFamily="34" charset="-122"/>
                <a:cs typeface="Calibri" pitchFamily="34" charset="-120"/>
              </a:rPr>
              <a:t>Cold chains fail silently. FROSTMIND senses, acts and explains</a:t>
            </a:r>
            <a:endParaRPr lang="en-US" sz="3200" dirty="0"/>
          </a:p>
        </p:txBody>
      </p:sp>
      <p:sp>
        <p:nvSpPr>
          <p:cNvPr id="3" name="card"/>
          <p:cNvSpPr/>
          <p:nvPr/>
        </p:nvSpPr>
        <p:spPr>
          <a:xfrm>
            <a:off x="548640" y="1417320"/>
            <a:ext cx="3474720" cy="3566160"/>
          </a:xfrm>
          <a:prstGeom prst="roundRect">
            <a:avLst>
              <a:gd name="adj" fmla="val 3158"/>
            </a:avLst>
          </a:prstGeom>
          <a:solidFill>
            <a:schemeClr val="bg2"/>
          </a:solidFill>
          <a:ln w="12700">
            <a:solidFill>
              <a:schemeClr val="bg2"/>
            </a:solidFill>
            <a:prstDash val="solid"/>
          </a:ln>
          <a:effectLst>
            <a:outerShdw sx="100000" sy="100000" kx="0" ky="0" algn="bl" rotWithShape="0" blurRad="101600" dist="25400" dir="5400000">
              <a:srgbClr val="0B1736">
                <a:alpha val="12000"/>
              </a:srgbClr>
            </a:outerShdw>
          </a:effectLst>
        </p:spPr>
      </p:sp>
      <p:sp>
        <p:nvSpPr>
          <p:cNvPr id="4" name="icon circle FaThermometerHalf"/>
          <p:cNvSpPr/>
          <p:nvPr/>
        </p:nvSpPr>
        <p:spPr>
          <a:xfrm>
            <a:off x="868680" y="1691640"/>
            <a:ext cx="868680" cy="868680"/>
          </a:xfrm>
          <a:prstGeom prst="ellipse">
            <a:avLst/>
          </a:prstGeom>
          <a:solidFill>
            <a:schemeClr val="accent1"/>
          </a:solidFill>
          <a:ln w="12700">
            <a:solidFill>
              <a:schemeClr val="accent1"/>
            </a:solidFill>
            <a:prstDash val="solid"/>
          </a:ln>
        </p:spPr>
      </p:sp>
      <p:pic>
        <p:nvPicPr>
          <p:cNvPr id="5" name="Image 0" descr="FaThermometerHalf">    </p:cNvPr>
          <p:cNvPicPr>
            <a:picLocks noChangeAspect="1"/>
          </p:cNvPicPr>
          <p:nvPr/>
        </p:nvPicPr>
        <p:blipFill>
          <a:blip r:embed="rId1"/>
          <a:stretch>
            <a:fillRect/>
          </a:stretch>
        </p:blipFill>
        <p:spPr>
          <a:xfrm>
            <a:off x="1077163" y="1900123"/>
            <a:ext cx="451714" cy="451714"/>
          </a:xfrm>
          <a:prstGeom prst="rect">
            <a:avLst/>
          </a:prstGeom>
        </p:spPr>
      </p:pic>
      <p:sp>
        <p:nvSpPr>
          <p:cNvPr id="6" name="Text 3"/>
          <p:cNvSpPr txBox="1"/>
          <p:nvPr/>
        </p:nvSpPr>
        <p:spPr>
          <a:xfrm>
            <a:off x="868680" y="2743200"/>
            <a:ext cx="2834640" cy="502920"/>
          </a:xfrm>
          <a:prstGeom prst="rect">
            <a:avLst/>
          </a:prstGeom>
          <a:noFill/>
          <a:ln/>
        </p:spPr>
        <p:txBody>
          <a:bodyPr wrap="square" lIns="0" tIns="0" rIns="0" bIns="0" rtlCol="0" anchor="t"/>
          <a:lstStyle/>
          <a:p>
            <a:pPr indent="0" marL="0">
              <a:buNone/>
            </a:pPr>
            <a:r>
              <a:rPr lang="en-US" sz="2600" b="1" dirty="0">
                <a:solidFill>
                  <a:schemeClr val="tx1"/>
                </a:solidFill>
                <a:latin typeface="Calibri" pitchFamily="34" charset="0"/>
                <a:ea typeface="Calibri" pitchFamily="34" charset="-122"/>
                <a:cs typeface="Calibri" pitchFamily="34" charset="-120"/>
              </a:rPr>
              <a:t>Sense</a:t>
            </a:r>
            <a:endParaRPr lang="en-US" sz="2600" dirty="0"/>
          </a:p>
        </p:txBody>
      </p:sp>
      <p:sp>
        <p:nvSpPr>
          <p:cNvPr id="7" name="Text 4"/>
          <p:cNvSpPr txBox="1"/>
          <p:nvPr/>
        </p:nvSpPr>
        <p:spPr>
          <a:xfrm>
            <a:off x="868680" y="3291840"/>
            <a:ext cx="2880360" cy="1600200"/>
          </a:xfrm>
          <a:prstGeom prst="rect">
            <a:avLst/>
          </a:prstGeom>
          <a:noFill/>
          <a:ln/>
        </p:spPr>
        <p:txBody>
          <a:bodyPr wrap="square" lIns="0" tIns="0" rIns="0" bIns="0" rtlCol="0" anchor="t"/>
          <a:lstStyle/>
          <a:p>
            <a:pPr indent="0" marL="0">
              <a:buNone/>
            </a:pPr>
            <a:r>
              <a:rPr lang="en-US" sz="1700" dirty="0">
                <a:solidFill>
                  <a:schemeClr val="tx2"/>
                </a:solidFill>
                <a:latin typeface="Calibri" pitchFamily="34" charset="0"/>
                <a:ea typeface="Calibri" pitchFamily="34" charset="-122"/>
                <a:cs typeface="Calibri" pitchFamily="34" charset="-120"/>
              </a:rPr>
              <a:t>A small ESP32 box reads temperature, humidity and the door every 2 seconds, and streams it through the driver's phone.</a:t>
            </a:r>
            <a:endParaRPr lang="en-US" sz="1700" dirty="0"/>
          </a:p>
        </p:txBody>
      </p:sp>
      <p:sp>
        <p:nvSpPr>
          <p:cNvPr id="8" name="card"/>
          <p:cNvSpPr/>
          <p:nvPr/>
        </p:nvSpPr>
        <p:spPr>
          <a:xfrm>
            <a:off x="4297680" y="1417320"/>
            <a:ext cx="3474720" cy="3566160"/>
          </a:xfrm>
          <a:prstGeom prst="roundRect">
            <a:avLst>
              <a:gd name="adj" fmla="val 3158"/>
            </a:avLst>
          </a:prstGeom>
          <a:solidFill>
            <a:schemeClr val="bg2"/>
          </a:solidFill>
          <a:ln w="12700">
            <a:solidFill>
              <a:schemeClr val="bg2"/>
            </a:solidFill>
            <a:prstDash val="solid"/>
          </a:ln>
          <a:effectLst>
            <a:outerShdw sx="100000" sy="100000" kx="0" ky="0" algn="bl" rotWithShape="0" blurRad="101600" dist="25400" dir="5400000">
              <a:srgbClr val="0B1736">
                <a:alpha val="12000"/>
              </a:srgbClr>
            </a:outerShdw>
          </a:effectLst>
        </p:spPr>
      </p:sp>
      <p:sp>
        <p:nvSpPr>
          <p:cNvPr id="9" name="icon circle FaBolt"/>
          <p:cNvSpPr/>
          <p:nvPr/>
        </p:nvSpPr>
        <p:spPr>
          <a:xfrm>
            <a:off x="4617720" y="1691640"/>
            <a:ext cx="868680" cy="868680"/>
          </a:xfrm>
          <a:prstGeom prst="ellipse">
            <a:avLst/>
          </a:prstGeom>
          <a:solidFill>
            <a:schemeClr val="accent1"/>
          </a:solidFill>
          <a:ln w="12700">
            <a:solidFill>
              <a:schemeClr val="accent1"/>
            </a:solidFill>
            <a:prstDash val="solid"/>
          </a:ln>
        </p:spPr>
      </p:sp>
      <p:pic>
        <p:nvPicPr>
          <p:cNvPr id="10" name="Image 1" descr="FaBolt">    </p:cNvPr>
          <p:cNvPicPr>
            <a:picLocks noChangeAspect="1"/>
          </p:cNvPicPr>
          <p:nvPr/>
        </p:nvPicPr>
        <p:blipFill>
          <a:blip r:embed="rId2"/>
          <a:stretch>
            <a:fillRect/>
          </a:stretch>
        </p:blipFill>
        <p:spPr>
          <a:xfrm>
            <a:off x="4826203" y="1900123"/>
            <a:ext cx="451714" cy="451714"/>
          </a:xfrm>
          <a:prstGeom prst="rect">
            <a:avLst/>
          </a:prstGeom>
        </p:spPr>
      </p:pic>
      <p:sp>
        <p:nvSpPr>
          <p:cNvPr id="11" name="Text 7"/>
          <p:cNvSpPr txBox="1"/>
          <p:nvPr/>
        </p:nvSpPr>
        <p:spPr>
          <a:xfrm>
            <a:off x="4617720" y="2743200"/>
            <a:ext cx="2834640" cy="502920"/>
          </a:xfrm>
          <a:prstGeom prst="rect">
            <a:avLst/>
          </a:prstGeom>
          <a:noFill/>
          <a:ln/>
        </p:spPr>
        <p:txBody>
          <a:bodyPr wrap="square" lIns="0" tIns="0" rIns="0" bIns="0" rtlCol="0" anchor="t"/>
          <a:lstStyle/>
          <a:p>
            <a:pPr indent="0" marL="0">
              <a:buNone/>
            </a:pPr>
            <a:r>
              <a:rPr lang="en-US" sz="2600" b="1" dirty="0">
                <a:solidFill>
                  <a:schemeClr val="tx1"/>
                </a:solidFill>
                <a:latin typeface="Calibri" pitchFamily="34" charset="0"/>
                <a:ea typeface="Calibri" pitchFamily="34" charset="-122"/>
                <a:cs typeface="Calibri" pitchFamily="34" charset="-120"/>
              </a:rPr>
              <a:t>Act</a:t>
            </a:r>
            <a:endParaRPr lang="en-US" sz="2600" dirty="0"/>
          </a:p>
        </p:txBody>
      </p:sp>
      <p:sp>
        <p:nvSpPr>
          <p:cNvPr id="12" name="Text 8"/>
          <p:cNvSpPr txBox="1"/>
          <p:nvPr/>
        </p:nvSpPr>
        <p:spPr>
          <a:xfrm>
            <a:off x="4617720" y="3291840"/>
            <a:ext cx="2880360" cy="1600200"/>
          </a:xfrm>
          <a:prstGeom prst="rect">
            <a:avLst/>
          </a:prstGeom>
          <a:noFill/>
          <a:ln/>
        </p:spPr>
        <p:txBody>
          <a:bodyPr wrap="square" lIns="0" tIns="0" rIns="0" bIns="0" rtlCol="0" anchor="t"/>
          <a:lstStyle/>
          <a:p>
            <a:pPr indent="0" marL="0">
              <a:buNone/>
            </a:pPr>
            <a:r>
              <a:rPr lang="en-US" sz="1700" dirty="0">
                <a:solidFill>
                  <a:schemeClr val="tx2"/>
                </a:solidFill>
                <a:latin typeface="Calibri" pitchFamily="34" charset="0"/>
                <a:ea typeface="Calibri" pitchFamily="34" charset="-122"/>
                <a:cs typeface="Calibri" pitchFamily="34" charset="-120"/>
              </a:rPr>
              <a:t>When its rule trips, the box fires an IR command at the cooling unit by itself: no human and no internet needed.</a:t>
            </a:r>
            <a:endParaRPr lang="en-US" sz="1700" dirty="0"/>
          </a:p>
        </p:txBody>
      </p:sp>
      <p:sp>
        <p:nvSpPr>
          <p:cNvPr id="13" name="card"/>
          <p:cNvSpPr/>
          <p:nvPr/>
        </p:nvSpPr>
        <p:spPr>
          <a:xfrm>
            <a:off x="8046720" y="1417320"/>
            <a:ext cx="3474720" cy="3566160"/>
          </a:xfrm>
          <a:prstGeom prst="roundRect">
            <a:avLst>
              <a:gd name="adj" fmla="val 3158"/>
            </a:avLst>
          </a:prstGeom>
          <a:solidFill>
            <a:schemeClr val="bg2"/>
          </a:solidFill>
          <a:ln w="12700">
            <a:solidFill>
              <a:schemeClr val="bg2"/>
            </a:solidFill>
            <a:prstDash val="solid"/>
          </a:ln>
          <a:effectLst>
            <a:outerShdw sx="100000" sy="100000" kx="0" ky="0" algn="bl" rotWithShape="0" blurRad="101600" dist="25400" dir="5400000">
              <a:srgbClr val="0B1736">
                <a:alpha val="12000"/>
              </a:srgbClr>
            </a:outerShdw>
          </a:effectLst>
        </p:spPr>
      </p:sp>
      <p:sp>
        <p:nvSpPr>
          <p:cNvPr id="14" name="icon circle FaCommentDots"/>
          <p:cNvSpPr/>
          <p:nvPr/>
        </p:nvSpPr>
        <p:spPr>
          <a:xfrm>
            <a:off x="8366760" y="1691640"/>
            <a:ext cx="868680" cy="868680"/>
          </a:xfrm>
          <a:prstGeom prst="ellipse">
            <a:avLst/>
          </a:prstGeom>
          <a:solidFill>
            <a:schemeClr val="accent1"/>
          </a:solidFill>
          <a:ln w="12700">
            <a:solidFill>
              <a:schemeClr val="accent1"/>
            </a:solidFill>
            <a:prstDash val="solid"/>
          </a:ln>
        </p:spPr>
      </p:sp>
      <p:pic>
        <p:nvPicPr>
          <p:cNvPr id="15" name="Image 2" descr="FaCommentDots">    </p:cNvPr>
          <p:cNvPicPr>
            <a:picLocks noChangeAspect="1"/>
          </p:cNvPicPr>
          <p:nvPr/>
        </p:nvPicPr>
        <p:blipFill>
          <a:blip r:embed="rId3"/>
          <a:stretch>
            <a:fillRect/>
          </a:stretch>
        </p:blipFill>
        <p:spPr>
          <a:xfrm>
            <a:off x="8575243" y="1900123"/>
            <a:ext cx="451714" cy="451714"/>
          </a:xfrm>
          <a:prstGeom prst="rect">
            <a:avLst/>
          </a:prstGeom>
        </p:spPr>
      </p:pic>
      <p:sp>
        <p:nvSpPr>
          <p:cNvPr id="16" name="Text 11"/>
          <p:cNvSpPr txBox="1"/>
          <p:nvPr/>
        </p:nvSpPr>
        <p:spPr>
          <a:xfrm>
            <a:off x="8366760" y="2743200"/>
            <a:ext cx="2834640" cy="502920"/>
          </a:xfrm>
          <a:prstGeom prst="rect">
            <a:avLst/>
          </a:prstGeom>
          <a:noFill/>
          <a:ln/>
        </p:spPr>
        <p:txBody>
          <a:bodyPr wrap="square" lIns="0" tIns="0" rIns="0" bIns="0" rtlCol="0" anchor="t"/>
          <a:lstStyle/>
          <a:p>
            <a:pPr indent="0" marL="0">
              <a:buNone/>
            </a:pPr>
            <a:r>
              <a:rPr lang="en-US" sz="2600" b="1" dirty="0">
                <a:solidFill>
                  <a:schemeClr val="tx1"/>
                </a:solidFill>
                <a:latin typeface="Calibri" pitchFamily="34" charset="0"/>
                <a:ea typeface="Calibri" pitchFamily="34" charset="-122"/>
                <a:cs typeface="Calibri" pitchFamily="34" charset="-120"/>
              </a:rPr>
              <a:t>Explain</a:t>
            </a:r>
            <a:endParaRPr lang="en-US" sz="2600" dirty="0"/>
          </a:p>
        </p:txBody>
      </p:sp>
      <p:sp>
        <p:nvSpPr>
          <p:cNvPr id="17" name="Text 12"/>
          <p:cNvSpPr txBox="1"/>
          <p:nvPr/>
        </p:nvSpPr>
        <p:spPr>
          <a:xfrm>
            <a:off x="8366760" y="3291840"/>
            <a:ext cx="2880360" cy="1600200"/>
          </a:xfrm>
          <a:prstGeom prst="rect">
            <a:avLst/>
          </a:prstGeom>
          <a:noFill/>
          <a:ln/>
        </p:spPr>
        <p:txBody>
          <a:bodyPr wrap="square" lIns="0" tIns="0" rIns="0" bIns="0" rtlCol="0" anchor="t"/>
          <a:lstStyle/>
          <a:p>
            <a:pPr indent="0" marL="0">
              <a:buNone/>
            </a:pPr>
            <a:r>
              <a:rPr lang="en-US" sz="1700" dirty="0">
                <a:solidFill>
                  <a:schemeClr val="tx2"/>
                </a:solidFill>
                <a:latin typeface="Calibri" pitchFamily="34" charset="0"/>
                <a:ea typeface="Calibri" pitchFamily="34" charset="-122"/>
                <a:cs typeface="Calibri" pitchFamily="34" charset="-120"/>
              </a:rPr>
              <a:t>AI measures shelf life, picks the right temperature and checks which products can ride together. A local LLM explains each incident in plain English.</a:t>
            </a:r>
            <a:endParaRPr lang="en-US" sz="1700" dirty="0"/>
          </a:p>
        </p:txBody>
      </p:sp>
      <p:sp>
        <p:nvSpPr>
          <p:cNvPr id="18" name="Text 13"/>
          <p:cNvSpPr txBox="1"/>
          <p:nvPr/>
        </p:nvSpPr>
        <p:spPr>
          <a:xfrm>
            <a:off x="548640" y="5349240"/>
            <a:ext cx="11064240" cy="457200"/>
          </a:xfrm>
          <a:prstGeom prst="rect">
            <a:avLst/>
          </a:prstGeom>
          <a:noFill/>
          <a:ln/>
        </p:spPr>
        <p:txBody>
          <a:bodyPr wrap="square" lIns="0" tIns="0" rIns="0" bIns="0" rtlCol="0" anchor="t"/>
          <a:lstStyle/>
          <a:p>
            <a:pPr indent="0" marL="0">
              <a:buNone/>
            </a:pPr>
            <a:r>
              <a:rPr lang="en-US" sz="2000" i="1" dirty="0">
                <a:solidFill>
                  <a:schemeClr val="accent1"/>
                </a:solidFill>
                <a:latin typeface="Calibri" pitchFamily="34" charset="0"/>
                <a:ea typeface="Calibri" pitchFamily="34" charset="-122"/>
                <a:cs typeface="Calibri" pitchFamily="34" charset="-120"/>
              </a:rPr>
              <a:t>Everything runs on one laptop: no cloud account, and no data leaves the machine.</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8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libri" pitchFamily="34" charset="0"/>
                <a:ea typeface="Calibri" pitchFamily="34" charset="-122"/>
                <a:cs typeface="Calibri" pitchFamily="34" charset="-120"/>
              </a:rPr>
              <a:t>Four tiers, one data path</a:t>
            </a:r>
            <a:endParaRPr lang="en-US" sz="3200" dirty="0"/>
          </a:p>
        </p:txBody>
      </p:sp>
      <p:pic>
        <p:nvPicPr>
          <p:cNvPr id="3" name="Image 0" descr="System architecture diagram">    </p:cNvPr>
          <p:cNvPicPr>
            <a:picLocks noChangeAspect="1"/>
          </p:cNvPicPr>
          <p:nvPr/>
        </p:nvPicPr>
        <p:blipFill>
          <a:blip r:embed="rId1"/>
          <a:stretch>
            <a:fillRect/>
          </a:stretch>
        </p:blipFill>
        <p:spPr>
          <a:xfrm>
            <a:off x="1435608" y="1188720"/>
            <a:ext cx="9317736" cy="5072990"/>
          </a:xfrm>
          <a:prstGeom prst="rect">
            <a:avLst/>
          </a:prstGeom>
        </p:spPr>
      </p:pic>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8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libri" pitchFamily="34" charset="0"/>
                <a:ea typeface="Calibri" pitchFamily="34" charset="-122"/>
                <a:cs typeface="Calibri" pitchFamily="34" charset="-120"/>
              </a:rPr>
              <a:t>Hardware: a XIAO ESP32-S3 and five parts</a:t>
            </a:r>
            <a:endParaRPr lang="en-US" sz="3200" dirty="0"/>
          </a:p>
        </p:txBody>
      </p:sp>
      <p:pic>
        <p:nvPicPr>
          <p:cNvPr id="3" name="Image 0" descr="Wiring diagram">    </p:cNvPr>
          <p:cNvPicPr>
            <a:picLocks noChangeAspect="1"/>
          </p:cNvPicPr>
          <p:nvPr/>
        </p:nvPicPr>
        <p:blipFill>
          <a:blip r:embed="rId1"/>
          <a:stretch>
            <a:fillRect/>
          </a:stretch>
        </p:blipFill>
        <p:spPr>
          <a:xfrm>
            <a:off x="548640" y="1188720"/>
            <a:ext cx="11064240" cy="4456430"/>
          </a:xfrm>
          <a:prstGeom prst="rect">
            <a:avLst/>
          </a:prstGeom>
        </p:spPr>
      </p:pic>
      <p:sp>
        <p:nvSpPr>
          <p:cNvPr id="4" name="Text 1"/>
          <p:cNvSpPr txBox="1"/>
          <p:nvPr/>
        </p:nvSpPr>
        <p:spPr>
          <a:xfrm>
            <a:off x="548640" y="5760720"/>
            <a:ext cx="11064240" cy="411480"/>
          </a:xfrm>
          <a:prstGeom prst="rect">
            <a:avLst/>
          </a:prstGeom>
          <a:noFill/>
          <a:ln/>
        </p:spPr>
        <p:txBody>
          <a:bodyPr wrap="square" lIns="0" tIns="0" rIns="0" bIns="0" rtlCol="0" anchor="t"/>
          <a:lstStyle/>
          <a:p>
            <a:pPr indent="0" marL="0">
              <a:buNone/>
            </a:pPr>
            <a:r>
              <a:rPr lang="en-US" sz="1600" b="1" dirty="0">
                <a:solidFill>
                  <a:schemeClr val="accent5"/>
                </a:solidFill>
                <a:latin typeface="Calibri" pitchFamily="34" charset="0"/>
                <a:ea typeface="Calibri" pitchFamily="34" charset="-122"/>
                <a:cs typeface="Calibri" pitchFamily="34" charset="-120"/>
              </a:rPr>
              <a:t>Wire by the D-label, not the GPIO number: </a:t>
            </a:r>
            <a:pPr indent="0" marL="0">
              <a:buNone/>
            </a:pPr>
            <a:r>
              <a:rPr lang="en-US" sz="1600" dirty="0">
                <a:solidFill>
                  <a:schemeClr val="tx1"/>
                </a:solidFill>
                <a:latin typeface="Calibri" pitchFamily="34" charset="0"/>
                <a:ea typeface="Calibri" pitchFamily="34" charset="-122"/>
                <a:cs typeface="Calibri" pitchFamily="34" charset="-120"/>
              </a:rPr>
              <a:t>on this board D3 = GPIO4, D4 = GPIO5, D5 = GPIO6 and D8 = GPIO7.</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8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libri" pitchFamily="34" charset="0"/>
                <a:ea typeface="Calibri" pitchFamily="34" charset="-122"/>
                <a:cs typeface="Calibri" pitchFamily="34" charset="-120"/>
              </a:rPr>
              <a:t>Seven AI components, staged to the data we have</a:t>
            </a:r>
            <a:endParaRPr lang="en-US" sz="3200" dirty="0"/>
          </a:p>
        </p:txBody>
      </p:sp>
      <p:sp>
        <p:nvSpPr>
          <p:cNvPr id="3" name="row Model 0"/>
          <p:cNvSpPr/>
          <p:nvPr/>
        </p:nvSpPr>
        <p:spPr>
          <a:xfrm>
            <a:off x="548640" y="1280160"/>
            <a:ext cx="11064240" cy="612648"/>
          </a:xfrm>
          <a:prstGeom prst="roundRect">
            <a:avLst>
              <a:gd name="adj" fmla="val 11940"/>
            </a:avLst>
          </a:prstGeom>
          <a:solidFill>
            <a:schemeClr val="bg2"/>
          </a:solidFill>
          <a:ln w="12700">
            <a:solidFill>
              <a:schemeClr val="bg2"/>
            </a:solidFill>
            <a:prstDash val="solid"/>
          </a:ln>
        </p:spPr>
      </p:sp>
      <p:sp>
        <p:nvSpPr>
          <p:cNvPr id="4" name="Text 2"/>
          <p:cNvSpPr txBox="1"/>
          <p:nvPr/>
        </p:nvSpPr>
        <p:spPr>
          <a:xfrm>
            <a:off x="731520" y="1353312"/>
            <a:ext cx="1097280" cy="457200"/>
          </a:xfrm>
          <a:prstGeom prst="rect">
            <a:avLst/>
          </a:prstGeom>
          <a:noFill/>
          <a:ln/>
        </p:spPr>
        <p:txBody>
          <a:bodyPr wrap="square" lIns="0" tIns="0" rIns="0" bIns="0" rtlCol="0" anchor="ctr"/>
          <a:lstStyle/>
          <a:p>
            <a:pPr indent="0" marL="0">
              <a:buNone/>
            </a:pPr>
            <a:r>
              <a:rPr lang="en-US" sz="1600" b="1" dirty="0">
                <a:solidFill>
                  <a:schemeClr val="accent1"/>
                </a:solidFill>
                <a:latin typeface="Calibri" pitchFamily="34" charset="0"/>
                <a:ea typeface="Calibri" pitchFamily="34" charset="-122"/>
                <a:cs typeface="Calibri" pitchFamily="34" charset="-120"/>
              </a:rPr>
              <a:t>Model 0</a:t>
            </a:r>
            <a:endParaRPr lang="en-US" sz="1600" dirty="0"/>
          </a:p>
        </p:txBody>
      </p:sp>
      <p:sp>
        <p:nvSpPr>
          <p:cNvPr id="5" name="Text 3"/>
          <p:cNvSpPr txBox="1"/>
          <p:nvPr/>
        </p:nvSpPr>
        <p:spPr>
          <a:xfrm>
            <a:off x="1828800" y="1353312"/>
            <a:ext cx="2468880" cy="45720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On-device rule</a:t>
            </a:r>
            <a:endParaRPr lang="en-US" sz="1600" dirty="0"/>
          </a:p>
        </p:txBody>
      </p:sp>
      <p:sp>
        <p:nvSpPr>
          <p:cNvPr id="6" name="Text 4"/>
          <p:cNvSpPr txBox="1"/>
          <p:nvPr/>
        </p:nvSpPr>
        <p:spPr>
          <a:xfrm>
            <a:off x="4297680" y="1353312"/>
            <a:ext cx="5486400" cy="457200"/>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Rate of change, setpoint deviation, door time; fires the IR command</a:t>
            </a:r>
            <a:endParaRPr lang="en-US" sz="1400" dirty="0"/>
          </a:p>
        </p:txBody>
      </p:sp>
      <p:sp>
        <p:nvSpPr>
          <p:cNvPr id="7" name="status Model 0"/>
          <p:cNvSpPr/>
          <p:nvPr/>
        </p:nvSpPr>
        <p:spPr>
          <a:xfrm>
            <a:off x="10012680" y="1399032"/>
            <a:ext cx="1417320" cy="374904"/>
          </a:xfrm>
          <a:prstGeom prst="roundRect">
            <a:avLst>
              <a:gd name="adj" fmla="val 48780"/>
            </a:avLst>
          </a:prstGeom>
          <a:solidFill>
            <a:schemeClr val="accent3"/>
          </a:solidFill>
          <a:ln w="12700">
            <a:solidFill>
              <a:schemeClr val="accent3"/>
            </a:solidFill>
            <a:prstDash val="solid"/>
          </a:ln>
        </p:spPr>
      </p:sp>
      <p:sp>
        <p:nvSpPr>
          <p:cNvPr id="8" name="Text 6"/>
          <p:cNvSpPr txBox="1"/>
          <p:nvPr/>
        </p:nvSpPr>
        <p:spPr>
          <a:xfrm>
            <a:off x="10012680" y="1399032"/>
            <a:ext cx="1417320" cy="374904"/>
          </a:xfrm>
          <a:prstGeom prst="rect">
            <a:avLst/>
          </a:prstGeom>
          <a:noFill/>
          <a:ln/>
        </p:spPr>
        <p:txBody>
          <a:bodyPr wrap="square" lIns="0" tIns="0" rIns="0" bIns="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Live</a:t>
            </a:r>
            <a:endParaRPr lang="en-US" sz="1300" dirty="0"/>
          </a:p>
        </p:txBody>
      </p:sp>
      <p:sp>
        <p:nvSpPr>
          <p:cNvPr id="9" name="row Model 1"/>
          <p:cNvSpPr/>
          <p:nvPr/>
        </p:nvSpPr>
        <p:spPr>
          <a:xfrm>
            <a:off x="548640" y="1984248"/>
            <a:ext cx="11064240" cy="612648"/>
          </a:xfrm>
          <a:prstGeom prst="roundRect">
            <a:avLst>
              <a:gd name="adj" fmla="val 11940"/>
            </a:avLst>
          </a:prstGeom>
          <a:solidFill>
            <a:schemeClr val="bg1"/>
          </a:solidFill>
          <a:ln w="12700">
            <a:solidFill>
              <a:schemeClr val="bg2"/>
            </a:solidFill>
            <a:prstDash val="solid"/>
          </a:ln>
        </p:spPr>
      </p:sp>
      <p:sp>
        <p:nvSpPr>
          <p:cNvPr id="10" name="Text 8"/>
          <p:cNvSpPr txBox="1"/>
          <p:nvPr/>
        </p:nvSpPr>
        <p:spPr>
          <a:xfrm>
            <a:off x="731520" y="2057400"/>
            <a:ext cx="1097280" cy="457200"/>
          </a:xfrm>
          <a:prstGeom prst="rect">
            <a:avLst/>
          </a:prstGeom>
          <a:noFill/>
          <a:ln/>
        </p:spPr>
        <p:txBody>
          <a:bodyPr wrap="square" lIns="0" tIns="0" rIns="0" bIns="0" rtlCol="0" anchor="ctr"/>
          <a:lstStyle/>
          <a:p>
            <a:pPr indent="0" marL="0">
              <a:buNone/>
            </a:pPr>
            <a:r>
              <a:rPr lang="en-US" sz="1600" b="1" dirty="0">
                <a:solidFill>
                  <a:schemeClr val="accent1"/>
                </a:solidFill>
                <a:latin typeface="Calibri" pitchFamily="34" charset="0"/>
                <a:ea typeface="Calibri" pitchFamily="34" charset="-122"/>
                <a:cs typeface="Calibri" pitchFamily="34" charset="-120"/>
              </a:rPr>
              <a:t>Model 1</a:t>
            </a:r>
            <a:endParaRPr lang="en-US" sz="1600" dirty="0"/>
          </a:p>
        </p:txBody>
      </p:sp>
      <p:sp>
        <p:nvSpPr>
          <p:cNvPr id="11" name="Text 9"/>
          <p:cNvSpPr txBox="1"/>
          <p:nvPr/>
        </p:nvSpPr>
        <p:spPr>
          <a:xfrm>
            <a:off x="1828800" y="2057400"/>
            <a:ext cx="2468880" cy="45720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Anomaly detector</a:t>
            </a:r>
            <a:endParaRPr lang="en-US" sz="1600" dirty="0"/>
          </a:p>
        </p:txBody>
      </p:sp>
      <p:sp>
        <p:nvSpPr>
          <p:cNvPr id="12" name="Text 10"/>
          <p:cNvSpPr txBox="1"/>
          <p:nvPr/>
        </p:nvSpPr>
        <p:spPr>
          <a:xfrm>
            <a:off x="4297680" y="2057400"/>
            <a:ext cx="5486400" cy="457200"/>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Isolation Forest, ROC-AUC 0.77-0.91 on 4 datasets; waits for our own data</a:t>
            </a:r>
            <a:endParaRPr lang="en-US" sz="1400" dirty="0"/>
          </a:p>
        </p:txBody>
      </p:sp>
      <p:sp>
        <p:nvSpPr>
          <p:cNvPr id="13" name="status Model 1"/>
          <p:cNvSpPr/>
          <p:nvPr/>
        </p:nvSpPr>
        <p:spPr>
          <a:xfrm>
            <a:off x="10012680" y="2103120"/>
            <a:ext cx="1417320" cy="374904"/>
          </a:xfrm>
          <a:prstGeom prst="roundRect">
            <a:avLst>
              <a:gd name="adj" fmla="val 48780"/>
            </a:avLst>
          </a:prstGeom>
          <a:solidFill>
            <a:schemeClr val="accent2"/>
          </a:solidFill>
          <a:ln w="12700">
            <a:solidFill>
              <a:schemeClr val="accent2"/>
            </a:solidFill>
            <a:prstDash val="solid"/>
          </a:ln>
        </p:spPr>
      </p:sp>
      <p:sp>
        <p:nvSpPr>
          <p:cNvPr id="14" name="Text 12"/>
          <p:cNvSpPr txBox="1"/>
          <p:nvPr/>
        </p:nvSpPr>
        <p:spPr>
          <a:xfrm>
            <a:off x="10012680" y="2103120"/>
            <a:ext cx="1417320" cy="374904"/>
          </a:xfrm>
          <a:prstGeom prst="rect">
            <a:avLst/>
          </a:prstGeom>
          <a:noFill/>
          <a:ln/>
        </p:spPr>
        <p:txBody>
          <a:bodyPr wrap="square" lIns="0" tIns="0" rIns="0" bIns="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Validated</a:t>
            </a:r>
            <a:endParaRPr lang="en-US" sz="1300" dirty="0"/>
          </a:p>
        </p:txBody>
      </p:sp>
      <p:sp>
        <p:nvSpPr>
          <p:cNvPr id="15" name="row Model 2"/>
          <p:cNvSpPr/>
          <p:nvPr/>
        </p:nvSpPr>
        <p:spPr>
          <a:xfrm>
            <a:off x="548640" y="2688336"/>
            <a:ext cx="11064240" cy="612648"/>
          </a:xfrm>
          <a:prstGeom prst="roundRect">
            <a:avLst>
              <a:gd name="adj" fmla="val 11940"/>
            </a:avLst>
          </a:prstGeom>
          <a:solidFill>
            <a:schemeClr val="bg2"/>
          </a:solidFill>
          <a:ln w="12700">
            <a:solidFill>
              <a:schemeClr val="bg2"/>
            </a:solidFill>
            <a:prstDash val="solid"/>
          </a:ln>
        </p:spPr>
      </p:sp>
      <p:sp>
        <p:nvSpPr>
          <p:cNvPr id="16" name="Text 14"/>
          <p:cNvSpPr txBox="1"/>
          <p:nvPr/>
        </p:nvSpPr>
        <p:spPr>
          <a:xfrm>
            <a:off x="731520" y="2761488"/>
            <a:ext cx="1097280" cy="457200"/>
          </a:xfrm>
          <a:prstGeom prst="rect">
            <a:avLst/>
          </a:prstGeom>
          <a:noFill/>
          <a:ln/>
        </p:spPr>
        <p:txBody>
          <a:bodyPr wrap="square" lIns="0" tIns="0" rIns="0" bIns="0" rtlCol="0" anchor="ctr"/>
          <a:lstStyle/>
          <a:p>
            <a:pPr indent="0" marL="0">
              <a:buNone/>
            </a:pPr>
            <a:r>
              <a:rPr lang="en-US" sz="1600" b="1" dirty="0">
                <a:solidFill>
                  <a:schemeClr val="accent1"/>
                </a:solidFill>
                <a:latin typeface="Calibri" pitchFamily="34" charset="0"/>
                <a:ea typeface="Calibri" pitchFamily="34" charset="-122"/>
                <a:cs typeface="Calibri" pitchFamily="34" charset="-120"/>
              </a:rPr>
              <a:t>Model 2</a:t>
            </a:r>
            <a:endParaRPr lang="en-US" sz="1600" dirty="0"/>
          </a:p>
        </p:txBody>
      </p:sp>
      <p:sp>
        <p:nvSpPr>
          <p:cNvPr id="17" name="Text 15"/>
          <p:cNvSpPr txBox="1"/>
          <p:nvPr/>
        </p:nvSpPr>
        <p:spPr>
          <a:xfrm>
            <a:off x="1828800" y="2761488"/>
            <a:ext cx="2468880" cy="45720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Root cause</a:t>
            </a:r>
            <a:endParaRPr lang="en-US" sz="1600" dirty="0"/>
          </a:p>
        </p:txBody>
      </p:sp>
      <p:sp>
        <p:nvSpPr>
          <p:cNvPr id="18" name="Text 16"/>
          <p:cNvSpPr txBox="1"/>
          <p:nvPr/>
        </p:nvSpPr>
        <p:spPr>
          <a:xfrm>
            <a:off x="4297680" y="2761488"/>
            <a:ext cx="5486400" cy="457200"/>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Needs AC current draw (INA219), not sourced; deliberately not faked</a:t>
            </a:r>
            <a:endParaRPr lang="en-US" sz="1400" dirty="0"/>
          </a:p>
        </p:txBody>
      </p:sp>
      <p:sp>
        <p:nvSpPr>
          <p:cNvPr id="19" name="status Model 2"/>
          <p:cNvSpPr/>
          <p:nvPr/>
        </p:nvSpPr>
        <p:spPr>
          <a:xfrm>
            <a:off x="10012680" y="2807208"/>
            <a:ext cx="1417320" cy="374904"/>
          </a:xfrm>
          <a:prstGeom prst="roundRect">
            <a:avLst>
              <a:gd name="adj" fmla="val 48780"/>
            </a:avLst>
          </a:prstGeom>
          <a:solidFill>
            <a:schemeClr val="bg2"/>
          </a:solidFill>
          <a:ln w="12700">
            <a:solidFill>
              <a:schemeClr val="tx2"/>
            </a:solidFill>
            <a:prstDash val="solid"/>
          </a:ln>
        </p:spPr>
      </p:sp>
      <p:sp>
        <p:nvSpPr>
          <p:cNvPr id="20" name="Text 18"/>
          <p:cNvSpPr txBox="1"/>
          <p:nvPr/>
        </p:nvSpPr>
        <p:spPr>
          <a:xfrm>
            <a:off x="10012680" y="2807208"/>
            <a:ext cx="1417320" cy="374904"/>
          </a:xfrm>
          <a:prstGeom prst="rect">
            <a:avLst/>
          </a:prstGeom>
          <a:noFill/>
          <a:ln/>
        </p:spPr>
        <p:txBody>
          <a:bodyPr wrap="square" lIns="0" tIns="0" rIns="0" bIns="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Deferred</a:t>
            </a:r>
            <a:endParaRPr lang="en-US" sz="1300" dirty="0"/>
          </a:p>
        </p:txBody>
      </p:sp>
      <p:sp>
        <p:nvSpPr>
          <p:cNvPr id="21" name="row Model 3"/>
          <p:cNvSpPr/>
          <p:nvPr/>
        </p:nvSpPr>
        <p:spPr>
          <a:xfrm>
            <a:off x="548640" y="3392424"/>
            <a:ext cx="11064240" cy="612648"/>
          </a:xfrm>
          <a:prstGeom prst="roundRect">
            <a:avLst>
              <a:gd name="adj" fmla="val 11940"/>
            </a:avLst>
          </a:prstGeom>
          <a:solidFill>
            <a:schemeClr val="bg1"/>
          </a:solidFill>
          <a:ln w="12700">
            <a:solidFill>
              <a:schemeClr val="bg2"/>
            </a:solidFill>
            <a:prstDash val="solid"/>
          </a:ln>
        </p:spPr>
      </p:sp>
      <p:sp>
        <p:nvSpPr>
          <p:cNvPr id="22" name="Text 20"/>
          <p:cNvSpPr txBox="1"/>
          <p:nvPr/>
        </p:nvSpPr>
        <p:spPr>
          <a:xfrm>
            <a:off x="731520" y="3465576"/>
            <a:ext cx="1097280" cy="457200"/>
          </a:xfrm>
          <a:prstGeom prst="rect">
            <a:avLst/>
          </a:prstGeom>
          <a:noFill/>
          <a:ln/>
        </p:spPr>
        <p:txBody>
          <a:bodyPr wrap="square" lIns="0" tIns="0" rIns="0" bIns="0" rtlCol="0" anchor="ctr"/>
          <a:lstStyle/>
          <a:p>
            <a:pPr indent="0" marL="0">
              <a:buNone/>
            </a:pPr>
            <a:r>
              <a:rPr lang="en-US" sz="1600" b="1" dirty="0">
                <a:solidFill>
                  <a:schemeClr val="accent1"/>
                </a:solidFill>
                <a:latin typeface="Calibri" pitchFamily="34" charset="0"/>
                <a:ea typeface="Calibri" pitchFamily="34" charset="-122"/>
                <a:cs typeface="Calibri" pitchFamily="34" charset="-120"/>
              </a:rPr>
              <a:t>Model 3</a:t>
            </a:r>
            <a:endParaRPr lang="en-US" sz="1600" dirty="0"/>
          </a:p>
        </p:txBody>
      </p:sp>
      <p:sp>
        <p:nvSpPr>
          <p:cNvPr id="23" name="Text 21"/>
          <p:cNvSpPr txBox="1"/>
          <p:nvPr/>
        </p:nvSpPr>
        <p:spPr>
          <a:xfrm>
            <a:off x="1828800" y="3465576"/>
            <a:ext cx="2468880" cy="45720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Shelf life</a:t>
            </a:r>
            <a:endParaRPr lang="en-US" sz="1600" dirty="0"/>
          </a:p>
        </p:txBody>
      </p:sp>
      <p:sp>
        <p:nvSpPr>
          <p:cNvPr id="24" name="Text 22"/>
          <p:cNvSpPr txBox="1"/>
          <p:nvPr/>
        </p:nvSpPr>
        <p:spPr>
          <a:xfrm>
            <a:off x="4297680" y="3465576"/>
            <a:ext cx="5486400" cy="457200"/>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Arrhenius kinetics per product; the most perishable one drives the trip</a:t>
            </a:r>
            <a:endParaRPr lang="en-US" sz="1400" dirty="0"/>
          </a:p>
        </p:txBody>
      </p:sp>
      <p:sp>
        <p:nvSpPr>
          <p:cNvPr id="25" name="status Model 3"/>
          <p:cNvSpPr/>
          <p:nvPr/>
        </p:nvSpPr>
        <p:spPr>
          <a:xfrm>
            <a:off x="10012680" y="3511296"/>
            <a:ext cx="1417320" cy="374904"/>
          </a:xfrm>
          <a:prstGeom prst="roundRect">
            <a:avLst>
              <a:gd name="adj" fmla="val 48780"/>
            </a:avLst>
          </a:prstGeom>
          <a:solidFill>
            <a:schemeClr val="accent3"/>
          </a:solidFill>
          <a:ln w="12700">
            <a:solidFill>
              <a:schemeClr val="accent3"/>
            </a:solidFill>
            <a:prstDash val="solid"/>
          </a:ln>
        </p:spPr>
      </p:sp>
      <p:sp>
        <p:nvSpPr>
          <p:cNvPr id="26" name="Text 24"/>
          <p:cNvSpPr txBox="1"/>
          <p:nvPr/>
        </p:nvSpPr>
        <p:spPr>
          <a:xfrm>
            <a:off x="10012680" y="3511296"/>
            <a:ext cx="1417320" cy="374904"/>
          </a:xfrm>
          <a:prstGeom prst="rect">
            <a:avLst/>
          </a:prstGeom>
          <a:noFill/>
          <a:ln/>
        </p:spPr>
        <p:txBody>
          <a:bodyPr wrap="square" lIns="0" tIns="0" rIns="0" bIns="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Live</a:t>
            </a:r>
            <a:endParaRPr lang="en-US" sz="1300" dirty="0"/>
          </a:p>
        </p:txBody>
      </p:sp>
      <p:sp>
        <p:nvSpPr>
          <p:cNvPr id="27" name="row Model 4"/>
          <p:cNvSpPr/>
          <p:nvPr/>
        </p:nvSpPr>
        <p:spPr>
          <a:xfrm>
            <a:off x="548640" y="4096512"/>
            <a:ext cx="11064240" cy="612648"/>
          </a:xfrm>
          <a:prstGeom prst="roundRect">
            <a:avLst>
              <a:gd name="adj" fmla="val 11940"/>
            </a:avLst>
          </a:prstGeom>
          <a:solidFill>
            <a:schemeClr val="bg2"/>
          </a:solidFill>
          <a:ln w="12700">
            <a:solidFill>
              <a:schemeClr val="bg2"/>
            </a:solidFill>
            <a:prstDash val="solid"/>
          </a:ln>
        </p:spPr>
      </p:sp>
      <p:sp>
        <p:nvSpPr>
          <p:cNvPr id="28" name="Text 26"/>
          <p:cNvSpPr txBox="1"/>
          <p:nvPr/>
        </p:nvSpPr>
        <p:spPr>
          <a:xfrm>
            <a:off x="731520" y="4169664"/>
            <a:ext cx="1097280" cy="457200"/>
          </a:xfrm>
          <a:prstGeom prst="rect">
            <a:avLst/>
          </a:prstGeom>
          <a:noFill/>
          <a:ln/>
        </p:spPr>
        <p:txBody>
          <a:bodyPr wrap="square" lIns="0" tIns="0" rIns="0" bIns="0" rtlCol="0" anchor="ctr"/>
          <a:lstStyle/>
          <a:p>
            <a:pPr indent="0" marL="0">
              <a:buNone/>
            </a:pPr>
            <a:r>
              <a:rPr lang="en-US" sz="1600" b="1" dirty="0">
                <a:solidFill>
                  <a:schemeClr val="accent1"/>
                </a:solidFill>
                <a:latin typeface="Calibri" pitchFamily="34" charset="0"/>
                <a:ea typeface="Calibri" pitchFamily="34" charset="-122"/>
                <a:cs typeface="Calibri" pitchFamily="34" charset="-120"/>
              </a:rPr>
              <a:t>Model 4</a:t>
            </a:r>
            <a:endParaRPr lang="en-US" sz="1600" dirty="0"/>
          </a:p>
        </p:txBody>
      </p:sp>
      <p:sp>
        <p:nvSpPr>
          <p:cNvPr id="29" name="Text 27"/>
          <p:cNvSpPr txBox="1"/>
          <p:nvPr/>
        </p:nvSpPr>
        <p:spPr>
          <a:xfrm>
            <a:off x="1828800" y="4169664"/>
            <a:ext cx="2468880" cy="45720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Mixed-load setpoint</a:t>
            </a:r>
            <a:endParaRPr lang="en-US" sz="1600" dirty="0"/>
          </a:p>
        </p:txBody>
      </p:sp>
      <p:sp>
        <p:nvSpPr>
          <p:cNvPr id="30" name="Text 28"/>
          <p:cNvSpPr txBox="1"/>
          <p:nvPr/>
        </p:nvSpPr>
        <p:spPr>
          <a:xfrm>
            <a:off x="4297680" y="4169664"/>
            <a:ext cx="5486400" cy="457200"/>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Physics teacher + ML student; 0.16 °C error on unseen products</a:t>
            </a:r>
            <a:endParaRPr lang="en-US" sz="1400" dirty="0"/>
          </a:p>
        </p:txBody>
      </p:sp>
      <p:sp>
        <p:nvSpPr>
          <p:cNvPr id="31" name="status Model 4"/>
          <p:cNvSpPr/>
          <p:nvPr/>
        </p:nvSpPr>
        <p:spPr>
          <a:xfrm>
            <a:off x="10012680" y="4215384"/>
            <a:ext cx="1417320" cy="374904"/>
          </a:xfrm>
          <a:prstGeom prst="roundRect">
            <a:avLst>
              <a:gd name="adj" fmla="val 48780"/>
            </a:avLst>
          </a:prstGeom>
          <a:solidFill>
            <a:schemeClr val="accent3"/>
          </a:solidFill>
          <a:ln w="12700">
            <a:solidFill>
              <a:schemeClr val="accent3"/>
            </a:solidFill>
            <a:prstDash val="solid"/>
          </a:ln>
        </p:spPr>
      </p:sp>
      <p:sp>
        <p:nvSpPr>
          <p:cNvPr id="32" name="Text 30"/>
          <p:cNvSpPr txBox="1"/>
          <p:nvPr/>
        </p:nvSpPr>
        <p:spPr>
          <a:xfrm>
            <a:off x="10012680" y="4215384"/>
            <a:ext cx="1417320" cy="374904"/>
          </a:xfrm>
          <a:prstGeom prst="rect">
            <a:avLst/>
          </a:prstGeom>
          <a:noFill/>
          <a:ln/>
        </p:spPr>
        <p:txBody>
          <a:bodyPr wrap="square" lIns="0" tIns="0" rIns="0" bIns="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Live</a:t>
            </a:r>
            <a:endParaRPr lang="en-US" sz="1300" dirty="0"/>
          </a:p>
        </p:txBody>
      </p:sp>
      <p:sp>
        <p:nvSpPr>
          <p:cNvPr id="33" name="row Model 5"/>
          <p:cNvSpPr/>
          <p:nvPr/>
        </p:nvSpPr>
        <p:spPr>
          <a:xfrm>
            <a:off x="548640" y="4800600"/>
            <a:ext cx="11064240" cy="612648"/>
          </a:xfrm>
          <a:prstGeom prst="roundRect">
            <a:avLst>
              <a:gd name="adj" fmla="val 11940"/>
            </a:avLst>
          </a:prstGeom>
          <a:solidFill>
            <a:schemeClr val="bg1"/>
          </a:solidFill>
          <a:ln w="12700">
            <a:solidFill>
              <a:schemeClr val="bg2"/>
            </a:solidFill>
            <a:prstDash val="solid"/>
          </a:ln>
        </p:spPr>
      </p:sp>
      <p:sp>
        <p:nvSpPr>
          <p:cNvPr id="34" name="Text 32"/>
          <p:cNvSpPr txBox="1"/>
          <p:nvPr/>
        </p:nvSpPr>
        <p:spPr>
          <a:xfrm>
            <a:off x="731520" y="4873752"/>
            <a:ext cx="1097280" cy="457200"/>
          </a:xfrm>
          <a:prstGeom prst="rect">
            <a:avLst/>
          </a:prstGeom>
          <a:noFill/>
          <a:ln/>
        </p:spPr>
        <p:txBody>
          <a:bodyPr wrap="square" lIns="0" tIns="0" rIns="0" bIns="0" rtlCol="0" anchor="ctr"/>
          <a:lstStyle/>
          <a:p>
            <a:pPr indent="0" marL="0">
              <a:buNone/>
            </a:pPr>
            <a:r>
              <a:rPr lang="en-US" sz="1600" b="1" dirty="0">
                <a:solidFill>
                  <a:schemeClr val="accent1"/>
                </a:solidFill>
                <a:latin typeface="Calibri" pitchFamily="34" charset="0"/>
                <a:ea typeface="Calibri" pitchFamily="34" charset="-122"/>
                <a:cs typeface="Calibri" pitchFamily="34" charset="-120"/>
              </a:rPr>
              <a:t>Model 5</a:t>
            </a:r>
            <a:endParaRPr lang="en-US" sz="1600" dirty="0"/>
          </a:p>
        </p:txBody>
      </p:sp>
      <p:sp>
        <p:nvSpPr>
          <p:cNvPr id="35" name="Text 33"/>
          <p:cNvSpPr txBox="1"/>
          <p:nvPr/>
        </p:nvSpPr>
        <p:spPr>
          <a:xfrm>
            <a:off x="1828800" y="4873752"/>
            <a:ext cx="2468880" cy="45720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Compatibility</a:t>
            </a:r>
            <a:endParaRPr lang="en-US" sz="1600" dirty="0"/>
          </a:p>
        </p:txBody>
      </p:sp>
      <p:sp>
        <p:nvSpPr>
          <p:cNvPr id="36" name="Text 34"/>
          <p:cNvSpPr txBox="1"/>
          <p:nvPr/>
        </p:nvSpPr>
        <p:spPr>
          <a:xfrm>
            <a:off x="4297680" y="4873752"/>
            <a:ext cx="5486400" cy="457200"/>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Random Forest on 13 pair features; ROC-AUC 0.930</a:t>
            </a:r>
            <a:endParaRPr lang="en-US" sz="1400" dirty="0"/>
          </a:p>
        </p:txBody>
      </p:sp>
      <p:sp>
        <p:nvSpPr>
          <p:cNvPr id="37" name="status Model 5"/>
          <p:cNvSpPr/>
          <p:nvPr/>
        </p:nvSpPr>
        <p:spPr>
          <a:xfrm>
            <a:off x="10012680" y="4919472"/>
            <a:ext cx="1417320" cy="374904"/>
          </a:xfrm>
          <a:prstGeom prst="roundRect">
            <a:avLst>
              <a:gd name="adj" fmla="val 48780"/>
            </a:avLst>
          </a:prstGeom>
          <a:solidFill>
            <a:schemeClr val="accent3"/>
          </a:solidFill>
          <a:ln w="12700">
            <a:solidFill>
              <a:schemeClr val="accent3"/>
            </a:solidFill>
            <a:prstDash val="solid"/>
          </a:ln>
        </p:spPr>
      </p:sp>
      <p:sp>
        <p:nvSpPr>
          <p:cNvPr id="38" name="Text 36"/>
          <p:cNvSpPr txBox="1"/>
          <p:nvPr/>
        </p:nvSpPr>
        <p:spPr>
          <a:xfrm>
            <a:off x="10012680" y="4919472"/>
            <a:ext cx="1417320" cy="374904"/>
          </a:xfrm>
          <a:prstGeom prst="rect">
            <a:avLst/>
          </a:prstGeom>
          <a:noFill/>
          <a:ln/>
        </p:spPr>
        <p:txBody>
          <a:bodyPr wrap="square" lIns="0" tIns="0" rIns="0" bIns="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Live</a:t>
            </a:r>
            <a:endParaRPr lang="en-US" sz="1300" dirty="0"/>
          </a:p>
        </p:txBody>
      </p:sp>
      <p:sp>
        <p:nvSpPr>
          <p:cNvPr id="39" name="row LLM"/>
          <p:cNvSpPr/>
          <p:nvPr/>
        </p:nvSpPr>
        <p:spPr>
          <a:xfrm>
            <a:off x="548640" y="5504688"/>
            <a:ext cx="11064240" cy="612648"/>
          </a:xfrm>
          <a:prstGeom prst="roundRect">
            <a:avLst>
              <a:gd name="adj" fmla="val 11940"/>
            </a:avLst>
          </a:prstGeom>
          <a:solidFill>
            <a:schemeClr val="bg2"/>
          </a:solidFill>
          <a:ln w="12700">
            <a:solidFill>
              <a:schemeClr val="bg2"/>
            </a:solidFill>
            <a:prstDash val="solid"/>
          </a:ln>
        </p:spPr>
      </p:sp>
      <p:sp>
        <p:nvSpPr>
          <p:cNvPr id="40" name="Text 38"/>
          <p:cNvSpPr txBox="1"/>
          <p:nvPr/>
        </p:nvSpPr>
        <p:spPr>
          <a:xfrm>
            <a:off x="731520" y="5577840"/>
            <a:ext cx="1097280" cy="457200"/>
          </a:xfrm>
          <a:prstGeom prst="rect">
            <a:avLst/>
          </a:prstGeom>
          <a:noFill/>
          <a:ln/>
        </p:spPr>
        <p:txBody>
          <a:bodyPr wrap="square" lIns="0" tIns="0" rIns="0" bIns="0" rtlCol="0" anchor="ctr"/>
          <a:lstStyle/>
          <a:p>
            <a:pPr indent="0" marL="0">
              <a:buNone/>
            </a:pPr>
            <a:r>
              <a:rPr lang="en-US" sz="1600" b="1" dirty="0">
                <a:solidFill>
                  <a:schemeClr val="accent1"/>
                </a:solidFill>
                <a:latin typeface="Calibri" pitchFamily="34" charset="0"/>
                <a:ea typeface="Calibri" pitchFamily="34" charset="-122"/>
                <a:cs typeface="Calibri" pitchFamily="34" charset="-120"/>
              </a:rPr>
              <a:t>LLM</a:t>
            </a:r>
            <a:endParaRPr lang="en-US" sz="1600" dirty="0"/>
          </a:p>
        </p:txBody>
      </p:sp>
      <p:sp>
        <p:nvSpPr>
          <p:cNvPr id="41" name="Text 39"/>
          <p:cNvSpPr txBox="1"/>
          <p:nvPr/>
        </p:nvSpPr>
        <p:spPr>
          <a:xfrm>
            <a:off x="1828800" y="5577840"/>
            <a:ext cx="2468880" cy="45720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Explanations</a:t>
            </a:r>
            <a:endParaRPr lang="en-US" sz="1600" dirty="0"/>
          </a:p>
        </p:txBody>
      </p:sp>
      <p:sp>
        <p:nvSpPr>
          <p:cNvPr id="42" name="Text 40"/>
          <p:cNvSpPr txBox="1"/>
          <p:nvPr/>
        </p:nvSpPr>
        <p:spPr>
          <a:xfrm>
            <a:off x="4297680" y="5577840"/>
            <a:ext cx="5486400" cy="457200"/>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Local Gemma via Ollama; read-only, it can never act</a:t>
            </a:r>
            <a:endParaRPr lang="en-US" sz="1400" dirty="0"/>
          </a:p>
        </p:txBody>
      </p:sp>
      <p:sp>
        <p:nvSpPr>
          <p:cNvPr id="43" name="status LLM"/>
          <p:cNvSpPr/>
          <p:nvPr/>
        </p:nvSpPr>
        <p:spPr>
          <a:xfrm>
            <a:off x="10012680" y="5623560"/>
            <a:ext cx="1417320" cy="374904"/>
          </a:xfrm>
          <a:prstGeom prst="roundRect">
            <a:avLst>
              <a:gd name="adj" fmla="val 48780"/>
            </a:avLst>
          </a:prstGeom>
          <a:solidFill>
            <a:schemeClr val="accent3"/>
          </a:solidFill>
          <a:ln w="12700">
            <a:solidFill>
              <a:schemeClr val="accent3"/>
            </a:solidFill>
            <a:prstDash val="solid"/>
          </a:ln>
        </p:spPr>
      </p:sp>
      <p:sp>
        <p:nvSpPr>
          <p:cNvPr id="44" name="Text 42"/>
          <p:cNvSpPr txBox="1"/>
          <p:nvPr/>
        </p:nvSpPr>
        <p:spPr>
          <a:xfrm>
            <a:off x="10012680" y="5623560"/>
            <a:ext cx="1417320" cy="374904"/>
          </a:xfrm>
          <a:prstGeom prst="rect">
            <a:avLst/>
          </a:prstGeom>
          <a:noFill/>
          <a:ln/>
        </p:spPr>
        <p:txBody>
          <a:bodyPr wrap="square" lIns="0" tIns="0" rIns="0" bIns="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Live</a:t>
            </a:r>
            <a:endParaRPr lang="en-US" sz="13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8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libri" pitchFamily="34" charset="0"/>
                <a:ea typeface="Calibri" pitchFamily="34" charset="-122"/>
                <a:cs typeface="Calibri" pitchFamily="34" charset="-120"/>
              </a:rPr>
              <a:t>Models 4 &amp; 5 beat the hand-written rules</a:t>
            </a:r>
            <a:endParaRPr lang="en-US" sz="3200" dirty="0"/>
          </a:p>
        </p:txBody>
      </p:sp>
      <p:sp>
        <p:nvSpPr>
          <p:cNvPr id="3" name="model 4 card"/>
          <p:cNvSpPr/>
          <p:nvPr/>
        </p:nvSpPr>
        <p:spPr>
          <a:xfrm>
            <a:off x="548640" y="1280160"/>
            <a:ext cx="5440680" cy="4892040"/>
          </a:xfrm>
          <a:prstGeom prst="roundRect">
            <a:avLst>
              <a:gd name="adj" fmla="val 2243"/>
            </a:avLst>
          </a:prstGeom>
          <a:solidFill>
            <a:schemeClr val="bg2"/>
          </a:solidFill>
          <a:ln w="12700">
            <a:solidFill>
              <a:schemeClr val="bg2"/>
            </a:solidFill>
            <a:prstDash val="solid"/>
          </a:ln>
          <a:effectLst>
            <a:outerShdw sx="100000" sy="100000" kx="0" ky="0" algn="bl" rotWithShape="0" blurRad="101600" dist="25400" dir="5400000">
              <a:srgbClr val="0B1736">
                <a:alpha val="12000"/>
              </a:srgbClr>
            </a:outerShdw>
          </a:effectLst>
        </p:spPr>
      </p:sp>
      <p:sp>
        <p:nvSpPr>
          <p:cNvPr id="4" name="Text 2"/>
          <p:cNvSpPr txBox="1"/>
          <p:nvPr/>
        </p:nvSpPr>
        <p:spPr>
          <a:xfrm>
            <a:off x="822960" y="1463040"/>
            <a:ext cx="4937760" cy="36576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MODEL 4  |  one temperature for a mixed load</a:t>
            </a:r>
            <a:endParaRPr lang="en-US" sz="1400" dirty="0"/>
          </a:p>
        </p:txBody>
      </p:sp>
      <p:sp>
        <p:nvSpPr>
          <p:cNvPr id="5" name="Text 3"/>
          <p:cNvSpPr txBox="1"/>
          <p:nvPr/>
        </p:nvSpPr>
        <p:spPr>
          <a:xfrm>
            <a:off x="822960" y="1828800"/>
            <a:ext cx="2651760" cy="868680"/>
          </a:xfrm>
          <a:prstGeom prst="rect">
            <a:avLst/>
          </a:prstGeom>
          <a:noFill/>
          <a:ln/>
        </p:spPr>
        <p:txBody>
          <a:bodyPr wrap="square" lIns="0" tIns="0" rIns="0" bIns="0" rtlCol="0" anchor="t"/>
          <a:lstStyle/>
          <a:p>
            <a:pPr indent="0" marL="0">
              <a:buNone/>
            </a:pPr>
            <a:r>
              <a:rPr lang="en-US" sz="5200" b="1" dirty="0">
                <a:solidFill>
                  <a:schemeClr val="tx1"/>
                </a:solidFill>
                <a:latin typeface="Calibri" pitchFamily="34" charset="0"/>
                <a:ea typeface="Calibri" pitchFamily="34" charset="-122"/>
                <a:cs typeface="Calibri" pitchFamily="34" charset="-120"/>
              </a:rPr>
              <a:t>0.16 °C</a:t>
            </a:r>
            <a:endParaRPr lang="en-US" sz="5200" dirty="0"/>
          </a:p>
        </p:txBody>
      </p:sp>
      <p:sp>
        <p:nvSpPr>
          <p:cNvPr id="6" name="Text 4"/>
          <p:cNvSpPr txBox="1"/>
          <p:nvPr/>
        </p:nvSpPr>
        <p:spPr>
          <a:xfrm>
            <a:off x="822960" y="2697480"/>
            <a:ext cx="2468880" cy="54864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mean error on products it never saw</a:t>
            </a:r>
            <a:endParaRPr lang="en-US" sz="1300" dirty="0"/>
          </a:p>
        </p:txBody>
      </p:sp>
      <p:sp>
        <p:nvSpPr>
          <p:cNvPr id="7" name="Text 5"/>
          <p:cNvSpPr txBox="1"/>
          <p:nvPr/>
        </p:nvSpPr>
        <p:spPr>
          <a:xfrm>
            <a:off x="3383280" y="1828800"/>
            <a:ext cx="2377440" cy="868680"/>
          </a:xfrm>
          <a:prstGeom prst="rect">
            <a:avLst/>
          </a:prstGeom>
          <a:noFill/>
          <a:ln/>
        </p:spPr>
        <p:txBody>
          <a:bodyPr wrap="square" lIns="0" tIns="0" rIns="0" bIns="0" rtlCol="0" anchor="t"/>
          <a:lstStyle/>
          <a:p>
            <a:pPr indent="0" marL="0">
              <a:buNone/>
            </a:pPr>
            <a:r>
              <a:rPr lang="en-US" sz="5200" b="1" dirty="0">
                <a:solidFill>
                  <a:schemeClr val="tx1"/>
                </a:solidFill>
                <a:latin typeface="Calibri" pitchFamily="34" charset="0"/>
                <a:ea typeface="Calibri" pitchFamily="34" charset="-122"/>
                <a:cs typeface="Calibri" pitchFamily="34" charset="-120"/>
              </a:rPr>
              <a:t>93.6 %</a:t>
            </a:r>
            <a:endParaRPr lang="en-US" sz="5200" dirty="0"/>
          </a:p>
        </p:txBody>
      </p:sp>
      <p:sp>
        <p:nvSpPr>
          <p:cNvPr id="8" name="Text 6"/>
          <p:cNvSpPr txBox="1"/>
          <p:nvPr/>
        </p:nvSpPr>
        <p:spPr>
          <a:xfrm>
            <a:off x="3383280" y="2697480"/>
            <a:ext cx="2377440" cy="54864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within ±0.5 °C of the physics optimum</a:t>
            </a:r>
            <a:endParaRPr lang="en-US" sz="1300" dirty="0"/>
          </a:p>
        </p:txBody>
      </p:sp>
      <p:graphicFrame>
        <p:nvGraphicFramePr>
          <p:cNvPr id="9" name="Chart 0" descr=""/>
          <p:cNvGraphicFramePr/>
          <p:nvPr/>
        </p:nvGraphicFramePr>
        <p:xfrm>
          <a:off x="777240" y="3337560"/>
          <a:ext cx="4983480" cy="2697480"/>
        </p:xfrm>
        <a:graphic xmlns:a="http://schemas.openxmlformats.org/drawingml/2006/main">
          <a:graphicData uri="http://schemas.openxmlformats.org/drawingml/2006/chart">
            <c:chart xmlns:c="http://schemas.openxmlformats.org/drawingml/2006/chart" r:id="rId1"/>
          </a:graphicData>
        </a:graphic>
      </p:graphicFrame>
      <p:sp>
        <p:nvSpPr>
          <p:cNvPr id="10" name="model 5 card"/>
          <p:cNvSpPr/>
          <p:nvPr/>
        </p:nvSpPr>
        <p:spPr>
          <a:xfrm>
            <a:off x="6172200" y="1280160"/>
            <a:ext cx="5440680" cy="4892040"/>
          </a:xfrm>
          <a:prstGeom prst="roundRect">
            <a:avLst>
              <a:gd name="adj" fmla="val 2243"/>
            </a:avLst>
          </a:prstGeom>
          <a:solidFill>
            <a:schemeClr val="bg2"/>
          </a:solidFill>
          <a:ln w="12700">
            <a:solidFill>
              <a:schemeClr val="bg2"/>
            </a:solidFill>
            <a:prstDash val="solid"/>
          </a:ln>
          <a:effectLst>
            <a:outerShdw sx="100000" sy="100000" kx="0" ky="0" algn="bl" rotWithShape="0" blurRad="101600" dist="25400" dir="5400000">
              <a:srgbClr val="0B1736">
                <a:alpha val="12000"/>
              </a:srgbClr>
            </a:outerShdw>
          </a:effectLst>
        </p:spPr>
      </p:sp>
      <p:sp>
        <p:nvSpPr>
          <p:cNvPr id="11" name="Text 8"/>
          <p:cNvSpPr txBox="1"/>
          <p:nvPr/>
        </p:nvSpPr>
        <p:spPr>
          <a:xfrm>
            <a:off x="6446520" y="1463040"/>
            <a:ext cx="4937760" cy="36576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MODEL 5  |  which products can ship together</a:t>
            </a:r>
            <a:endParaRPr lang="en-US" sz="1400" dirty="0"/>
          </a:p>
        </p:txBody>
      </p:sp>
      <p:sp>
        <p:nvSpPr>
          <p:cNvPr id="12" name="Text 9"/>
          <p:cNvSpPr txBox="1"/>
          <p:nvPr/>
        </p:nvSpPr>
        <p:spPr>
          <a:xfrm>
            <a:off x="6446520" y="1828800"/>
            <a:ext cx="2377440" cy="868680"/>
          </a:xfrm>
          <a:prstGeom prst="rect">
            <a:avLst/>
          </a:prstGeom>
          <a:noFill/>
          <a:ln/>
        </p:spPr>
        <p:txBody>
          <a:bodyPr wrap="square" lIns="0" tIns="0" rIns="0" bIns="0" rtlCol="0" anchor="t"/>
          <a:lstStyle/>
          <a:p>
            <a:pPr indent="0" marL="0">
              <a:buNone/>
            </a:pPr>
            <a:r>
              <a:rPr lang="en-US" sz="5200" b="1" dirty="0">
                <a:solidFill>
                  <a:schemeClr val="tx1"/>
                </a:solidFill>
                <a:latin typeface="Calibri" pitchFamily="34" charset="0"/>
                <a:ea typeface="Calibri" pitchFamily="34" charset="-122"/>
                <a:cs typeface="Calibri" pitchFamily="34" charset="-120"/>
              </a:rPr>
              <a:t>0.930</a:t>
            </a:r>
            <a:endParaRPr lang="en-US" sz="5200" dirty="0"/>
          </a:p>
        </p:txBody>
      </p:sp>
      <p:sp>
        <p:nvSpPr>
          <p:cNvPr id="13" name="Text 10"/>
          <p:cNvSpPr txBox="1"/>
          <p:nvPr/>
        </p:nvSpPr>
        <p:spPr>
          <a:xfrm>
            <a:off x="6446520" y="2697480"/>
            <a:ext cx="2377440" cy="54864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ROC-AUC on unseen products, 30 splits</a:t>
            </a:r>
            <a:endParaRPr lang="en-US" sz="1300" dirty="0"/>
          </a:p>
        </p:txBody>
      </p:sp>
      <p:sp>
        <p:nvSpPr>
          <p:cNvPr id="14" name="Text 11"/>
          <p:cNvSpPr txBox="1"/>
          <p:nvPr/>
        </p:nvSpPr>
        <p:spPr>
          <a:xfrm>
            <a:off x="9006840" y="1828800"/>
            <a:ext cx="2377440" cy="868680"/>
          </a:xfrm>
          <a:prstGeom prst="rect">
            <a:avLst/>
          </a:prstGeom>
          <a:noFill/>
          <a:ln/>
        </p:spPr>
        <p:txBody>
          <a:bodyPr wrap="square" lIns="0" tIns="0" rIns="0" bIns="0" rtlCol="0" anchor="t"/>
          <a:lstStyle/>
          <a:p>
            <a:pPr indent="0" marL="0">
              <a:buNone/>
            </a:pPr>
            <a:r>
              <a:rPr lang="en-US" sz="5200" b="1" dirty="0">
                <a:solidFill>
                  <a:schemeClr val="tx1"/>
                </a:solidFill>
                <a:latin typeface="Calibri" pitchFamily="34" charset="0"/>
                <a:ea typeface="Calibri" pitchFamily="34" charset="-122"/>
                <a:cs typeface="Calibri" pitchFamily="34" charset="-120"/>
              </a:rPr>
              <a:t>0.717</a:t>
            </a:r>
            <a:endParaRPr lang="en-US" sz="5200" dirty="0"/>
          </a:p>
        </p:txBody>
      </p:sp>
      <p:sp>
        <p:nvSpPr>
          <p:cNvPr id="15" name="Text 12"/>
          <p:cNvSpPr txBox="1"/>
          <p:nvPr/>
        </p:nvSpPr>
        <p:spPr>
          <a:xfrm>
            <a:off x="9006840" y="2697480"/>
            <a:ext cx="2377440" cy="54864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Matthews correlation (MCC)</a:t>
            </a:r>
            <a:endParaRPr lang="en-US" sz="1300" dirty="0"/>
          </a:p>
        </p:txBody>
      </p:sp>
      <p:graphicFrame>
        <p:nvGraphicFramePr>
          <p:cNvPr id="16" name="Chart 1" descr=""/>
          <p:cNvGraphicFramePr/>
          <p:nvPr/>
        </p:nvGraphicFramePr>
        <p:xfrm>
          <a:off x="6400800" y="3337560"/>
          <a:ext cx="4983480" cy="2697480"/>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8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libri" pitchFamily="34" charset="0"/>
                <a:ea typeface="Calibri" pitchFamily="34" charset="-122"/>
                <a:cs typeface="Calibri" pitchFamily="34" charset="-120"/>
              </a:rPr>
              <a:t>How much damage, and what to do about it</a:t>
            </a:r>
            <a:endParaRPr lang="en-US" sz="3200" dirty="0"/>
          </a:p>
        </p:txBody>
      </p:sp>
      <p:sp>
        <p:nvSpPr>
          <p:cNvPr id="3" name="model 3 card"/>
          <p:cNvSpPr/>
          <p:nvPr/>
        </p:nvSpPr>
        <p:spPr>
          <a:xfrm>
            <a:off x="548640" y="1280160"/>
            <a:ext cx="6949440" cy="2240280"/>
          </a:xfrm>
          <a:prstGeom prst="roundRect">
            <a:avLst>
              <a:gd name="adj" fmla="val 4898"/>
            </a:avLst>
          </a:prstGeom>
          <a:solidFill>
            <a:schemeClr val="bg2"/>
          </a:solidFill>
          <a:ln w="12700">
            <a:solidFill>
              <a:schemeClr val="bg2"/>
            </a:solidFill>
            <a:prstDash val="solid"/>
          </a:ln>
          <a:effectLst>
            <a:outerShdw sx="100000" sy="100000" kx="0" ky="0" algn="bl" rotWithShape="0" blurRad="101600" dist="25400" dir="5400000">
              <a:srgbClr val="0B1736">
                <a:alpha val="12000"/>
              </a:srgbClr>
            </a:outerShdw>
          </a:effectLst>
        </p:spPr>
      </p:sp>
      <p:sp>
        <p:nvSpPr>
          <p:cNvPr id="4" name="icon circle FaHourglassHalf"/>
          <p:cNvSpPr/>
          <p:nvPr/>
        </p:nvSpPr>
        <p:spPr>
          <a:xfrm>
            <a:off x="822960" y="1508760"/>
            <a:ext cx="731520" cy="731520"/>
          </a:xfrm>
          <a:prstGeom prst="ellipse">
            <a:avLst/>
          </a:prstGeom>
          <a:solidFill>
            <a:schemeClr val="accent1"/>
          </a:solidFill>
          <a:ln w="12700">
            <a:solidFill>
              <a:schemeClr val="accent1"/>
            </a:solidFill>
            <a:prstDash val="solid"/>
          </a:ln>
        </p:spPr>
      </p:sp>
      <p:pic>
        <p:nvPicPr>
          <p:cNvPr id="5" name="Image 0" descr="FaHourglassHalf">    </p:cNvPr>
          <p:cNvPicPr>
            <a:picLocks noChangeAspect="1"/>
          </p:cNvPicPr>
          <p:nvPr/>
        </p:nvPicPr>
        <p:blipFill>
          <a:blip r:embed="rId1"/>
          <a:stretch>
            <a:fillRect/>
          </a:stretch>
        </p:blipFill>
        <p:spPr>
          <a:xfrm>
            <a:off x="998525" y="1684325"/>
            <a:ext cx="380390" cy="380390"/>
          </a:xfrm>
          <a:prstGeom prst="rect">
            <a:avLst/>
          </a:prstGeom>
        </p:spPr>
      </p:pic>
      <p:sp>
        <p:nvSpPr>
          <p:cNvPr id="6" name="Text 3"/>
          <p:cNvSpPr txBox="1"/>
          <p:nvPr/>
        </p:nvSpPr>
        <p:spPr>
          <a:xfrm>
            <a:off x="1783080" y="1508760"/>
            <a:ext cx="5486400" cy="411480"/>
          </a:xfrm>
          <a:prstGeom prst="rect">
            <a:avLst/>
          </a:prstGeom>
          <a:noFill/>
          <a:ln/>
        </p:spPr>
        <p:txBody>
          <a:bodyPr wrap="square" lIns="0" tIns="0" rIns="0" bIns="0" rtlCol="0" anchor="t"/>
          <a:lstStyle/>
          <a:p>
            <a:pPr indent="0" marL="0">
              <a:buNone/>
            </a:pPr>
            <a:r>
              <a:rPr lang="en-US" sz="2000" b="1" dirty="0">
                <a:solidFill>
                  <a:schemeClr val="tx1"/>
                </a:solidFill>
                <a:latin typeface="Calibri" pitchFamily="34" charset="0"/>
                <a:ea typeface="Calibri" pitchFamily="34" charset="-122"/>
                <a:cs typeface="Calibri" pitchFamily="34" charset="-120"/>
              </a:rPr>
              <a:t>Model 3: shelf life, per product</a:t>
            </a:r>
            <a:endParaRPr lang="en-US" sz="2000" dirty="0"/>
          </a:p>
        </p:txBody>
      </p:sp>
      <p:sp>
        <p:nvSpPr>
          <p:cNvPr id="7" name="Text 4"/>
          <p:cNvSpPr txBox="1"/>
          <p:nvPr/>
        </p:nvSpPr>
        <p:spPr>
          <a:xfrm>
            <a:off x="1783080" y="1920240"/>
            <a:ext cx="5486400" cy="73152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Arrhenius kinetics integrates every reading. A threshold says 'too warm'; this says how much product life it cost.</a:t>
            </a:r>
            <a:endParaRPr lang="en-US" sz="1500" dirty="0"/>
          </a:p>
        </p:txBody>
      </p:sp>
      <p:sp>
        <p:nvSpPr>
          <p:cNvPr id="8" name="Text 5"/>
          <p:cNvSpPr txBox="1"/>
          <p:nvPr/>
        </p:nvSpPr>
        <p:spPr>
          <a:xfrm>
            <a:off x="1783080" y="2606040"/>
            <a:ext cx="2011680" cy="777240"/>
          </a:xfrm>
          <a:prstGeom prst="rect">
            <a:avLst/>
          </a:prstGeom>
          <a:noFill/>
          <a:ln/>
        </p:spPr>
        <p:txBody>
          <a:bodyPr wrap="square" lIns="0" tIns="0" rIns="0" bIns="0" rtlCol="0" anchor="t"/>
          <a:lstStyle/>
          <a:p>
            <a:pPr indent="0" marL="0">
              <a:buNone/>
            </a:pPr>
            <a:r>
              <a:rPr lang="en-US" sz="4000" b="1" dirty="0">
                <a:solidFill>
                  <a:schemeClr val="accent1"/>
                </a:solidFill>
                <a:latin typeface="Calibri" pitchFamily="34" charset="0"/>
                <a:ea typeface="Calibri" pitchFamily="34" charset="-122"/>
                <a:cs typeface="Calibri" pitchFamily="34" charset="-120"/>
              </a:rPr>
              <a:t>1.31 %</a:t>
            </a:r>
            <a:endParaRPr lang="en-US" sz="4000" dirty="0"/>
          </a:p>
        </p:txBody>
      </p:sp>
      <p:sp>
        <p:nvSpPr>
          <p:cNvPr id="9" name="Text 6"/>
          <p:cNvSpPr txBox="1"/>
          <p:nvPr/>
        </p:nvSpPr>
        <p:spPr>
          <a:xfrm>
            <a:off x="3794760" y="2697480"/>
            <a:ext cx="3474720" cy="6858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of a vaccine's shelf life used by a 6-hour excursion to 12 °C</a:t>
            </a:r>
            <a:endParaRPr lang="en-US" sz="1400" dirty="0"/>
          </a:p>
        </p:txBody>
      </p:sp>
      <p:sp>
        <p:nvSpPr>
          <p:cNvPr id="10" name="llm card"/>
          <p:cNvSpPr/>
          <p:nvPr/>
        </p:nvSpPr>
        <p:spPr>
          <a:xfrm>
            <a:off x="548640" y="3749040"/>
            <a:ext cx="6949440" cy="2423160"/>
          </a:xfrm>
          <a:prstGeom prst="roundRect">
            <a:avLst>
              <a:gd name="adj" fmla="val 4528"/>
            </a:avLst>
          </a:prstGeom>
          <a:solidFill>
            <a:schemeClr val="bg2"/>
          </a:solidFill>
          <a:ln w="12700">
            <a:solidFill>
              <a:schemeClr val="bg2"/>
            </a:solidFill>
            <a:prstDash val="solid"/>
          </a:ln>
          <a:effectLst>
            <a:outerShdw sx="100000" sy="100000" kx="0" ky="0" algn="bl" rotWithShape="0" blurRad="101600" dist="25400" dir="5400000">
              <a:srgbClr val="0B1736">
                <a:alpha val="12000"/>
              </a:srgbClr>
            </a:outerShdw>
          </a:effectLst>
        </p:spPr>
      </p:sp>
      <p:sp>
        <p:nvSpPr>
          <p:cNvPr id="11" name="icon circle FaCommentDots"/>
          <p:cNvSpPr/>
          <p:nvPr/>
        </p:nvSpPr>
        <p:spPr>
          <a:xfrm>
            <a:off x="822960" y="3977640"/>
            <a:ext cx="731520" cy="731520"/>
          </a:xfrm>
          <a:prstGeom prst="ellipse">
            <a:avLst/>
          </a:prstGeom>
          <a:solidFill>
            <a:schemeClr val="accent6"/>
          </a:solidFill>
          <a:ln w="12700">
            <a:solidFill>
              <a:schemeClr val="accent6"/>
            </a:solidFill>
            <a:prstDash val="solid"/>
          </a:ln>
        </p:spPr>
      </p:sp>
      <p:pic>
        <p:nvPicPr>
          <p:cNvPr id="12" name="Image 1" descr="FaCommentDots">    </p:cNvPr>
          <p:cNvPicPr>
            <a:picLocks noChangeAspect="1"/>
          </p:cNvPicPr>
          <p:nvPr/>
        </p:nvPicPr>
        <p:blipFill>
          <a:blip r:embed="rId2"/>
          <a:stretch>
            <a:fillRect/>
          </a:stretch>
        </p:blipFill>
        <p:spPr>
          <a:xfrm>
            <a:off x="998525" y="4153205"/>
            <a:ext cx="380390" cy="380390"/>
          </a:xfrm>
          <a:prstGeom prst="rect">
            <a:avLst/>
          </a:prstGeom>
        </p:spPr>
      </p:pic>
      <p:sp>
        <p:nvSpPr>
          <p:cNvPr id="13" name="Text 9"/>
          <p:cNvSpPr txBox="1"/>
          <p:nvPr/>
        </p:nvSpPr>
        <p:spPr>
          <a:xfrm>
            <a:off x="1783080" y="3977640"/>
            <a:ext cx="5486400" cy="411480"/>
          </a:xfrm>
          <a:prstGeom prst="rect">
            <a:avLst/>
          </a:prstGeom>
          <a:noFill/>
          <a:ln/>
        </p:spPr>
        <p:txBody>
          <a:bodyPr wrap="square" lIns="0" tIns="0" rIns="0" bIns="0" rtlCol="0" anchor="t"/>
          <a:lstStyle/>
          <a:p>
            <a:pPr indent="0" marL="0">
              <a:buNone/>
            </a:pPr>
            <a:r>
              <a:rPr lang="en-US" sz="2000" b="1" dirty="0">
                <a:solidFill>
                  <a:schemeClr val="tx1"/>
                </a:solidFill>
                <a:latin typeface="Calibri" pitchFamily="34" charset="0"/>
                <a:ea typeface="Calibri" pitchFamily="34" charset="-122"/>
                <a:cs typeface="Calibri" pitchFamily="34" charset="-120"/>
              </a:rPr>
              <a:t>Local LLM: explains, never acts</a:t>
            </a:r>
            <a:endParaRPr lang="en-US" sz="2000" dirty="0"/>
          </a:p>
        </p:txBody>
      </p:sp>
      <p:sp>
        <p:nvSpPr>
          <p:cNvPr id="14" name="Text 10"/>
          <p:cNvSpPr txBox="1"/>
          <p:nvPr/>
        </p:nvSpPr>
        <p:spPr>
          <a:xfrm>
            <a:off x="1783080" y="4434840"/>
            <a:ext cx="5486400" cy="914400"/>
          </a:xfrm>
          <a:prstGeom prst="rect">
            <a:avLst/>
          </a:prstGeom>
          <a:noFill/>
          <a:ln/>
        </p:spPr>
        <p:txBody>
          <a:bodyPr wrap="square" lIns="0" tIns="0" rIns="0" bIns="0" rtlCol="0" anchor="t"/>
          <a:lstStyle/>
          <a:p>
            <a:pPr indent="0" marL="0">
              <a:buNone/>
            </a:pPr>
            <a:r>
              <a:rPr lang="en-US" sz="1500" i="1" dirty="0">
                <a:solidFill>
                  <a:schemeClr val="tx1"/>
                </a:solidFill>
                <a:latin typeface="Calibri" pitchFamily="34" charset="0"/>
                <a:ea typeface="Calibri" pitchFamily="34" charset="-122"/>
                <a:cs typeface="Calibri" pitchFamily="34" charset="-120"/>
              </a:rPr>
              <a:t>“…an excursion to 8.5 °C, substantially above the required −0.9 °C for fresh produce… Do: immediately inspect the cargo area.”</a:t>
            </a:r>
            <a:endParaRPr lang="en-US" sz="1500" dirty="0"/>
          </a:p>
        </p:txBody>
      </p:sp>
      <p:sp>
        <p:nvSpPr>
          <p:cNvPr id="15" name="Text 11"/>
          <p:cNvSpPr txBox="1"/>
          <p:nvPr/>
        </p:nvSpPr>
        <p:spPr>
          <a:xfrm>
            <a:off x="1783080" y="5394960"/>
            <a:ext cx="5486400" cy="64008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Reached the driver's phone 7 seconds after the alert. If the LLM fails, the plain alert still stands.</a:t>
            </a:r>
            <a:endParaRPr lang="en-US" sz="1300" dirty="0"/>
          </a:p>
        </p:txBody>
      </p:sp>
      <p:pic>
        <p:nvPicPr>
          <p:cNvPr id="16" name="Image 2" descr="Phone AI panel screenshot">    </p:cNvPr>
          <p:cNvPicPr>
            <a:picLocks noChangeAspect="1"/>
          </p:cNvPicPr>
          <p:nvPr/>
        </p:nvPicPr>
        <p:blipFill>
          <a:blip r:embed="rId3"/>
          <a:stretch>
            <a:fillRect/>
          </a:stretch>
        </p:blipFill>
        <p:spPr>
          <a:xfrm>
            <a:off x="8366760" y="1280160"/>
            <a:ext cx="2163281" cy="4892040"/>
          </a:xfrm>
          <a:prstGeom prst="rect">
            <a:avLst/>
          </a:prstGeom>
        </p:spPr>
      </p:pic>
      <p:sp>
        <p:nvSpPr>
          <p:cNvPr id="17" name="Text 12"/>
          <p:cNvSpPr txBox="1"/>
          <p:nvPr/>
        </p:nvSpPr>
        <p:spPr>
          <a:xfrm>
            <a:off x="7863840" y="6217920"/>
            <a:ext cx="3108960" cy="228600"/>
          </a:xfrm>
          <a:prstGeom prst="rect">
            <a:avLst/>
          </a:prstGeom>
          <a:noFill/>
          <a:ln/>
        </p:spPr>
        <p:txBody>
          <a:bodyPr wrap="square" lIns="0" tIns="0" rIns="0" bIns="0" rtlCol="0" anchor="t"/>
          <a:lstStyle/>
          <a:p>
            <a:pPr algn="ctr" indent="0" marL="0">
              <a:buNone/>
            </a:pPr>
            <a:r>
              <a:rPr lang="en-US" sz="1100" dirty="0">
                <a:solidFill>
                  <a:schemeClr val="tx2"/>
                </a:solidFill>
                <a:latin typeface="Calibri" pitchFamily="34" charset="0"/>
                <a:ea typeface="Calibri" pitchFamily="34" charset="-122"/>
                <a:cs typeface="Calibri" pitchFamily="34" charset="-120"/>
              </a:rPr>
              <a:t>Phone AI panel</a:t>
            </a:r>
            <a:endParaRPr lang="en-US" sz="11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8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libri" pitchFamily="34" charset="0"/>
                <a:ea typeface="Calibri" pitchFamily="34" charset="-122"/>
                <a:cs typeface="Calibri" pitchFamily="34" charset="-120"/>
              </a:rPr>
              <a:t>Deployment: one command on any laptop</a:t>
            </a:r>
            <a:endParaRPr lang="en-US" sz="3200" dirty="0"/>
          </a:p>
        </p:txBody>
      </p:sp>
      <p:pic>
        <p:nvPicPr>
          <p:cNvPr id="3" name="Image 0" descr="Deployment topology">    </p:cNvPr>
          <p:cNvPicPr>
            <a:picLocks noChangeAspect="1"/>
          </p:cNvPicPr>
          <p:nvPr/>
        </p:nvPicPr>
        <p:blipFill>
          <a:blip r:embed="rId1"/>
          <a:stretch>
            <a:fillRect/>
          </a:stretch>
        </p:blipFill>
        <p:spPr>
          <a:xfrm>
            <a:off x="822960" y="1188720"/>
            <a:ext cx="10515600" cy="4644390"/>
          </a:xfrm>
          <a:prstGeom prst="rect">
            <a:avLst/>
          </a:prstGeom>
        </p:spPr>
      </p:pic>
      <p:sp>
        <p:nvSpPr>
          <p:cNvPr id="4" name="Text 1"/>
          <p:cNvSpPr txBox="1"/>
          <p:nvPr/>
        </p:nvSpPr>
        <p:spPr>
          <a:xfrm>
            <a:off x="822960" y="5897880"/>
            <a:ext cx="10515600" cy="365760"/>
          </a:xfrm>
          <a:prstGeom prst="rect">
            <a:avLst/>
          </a:prstGeom>
          <a:noFill/>
          <a:ln/>
        </p:spPr>
        <p:txBody>
          <a:bodyPr wrap="square" lIns="0" tIns="0" rIns="0" bIns="0" rtlCol="0" anchor="t"/>
          <a:lstStyle/>
          <a:p>
            <a:pPr indent="0" marL="0">
              <a:buNone/>
            </a:pPr>
            <a:r>
              <a:rPr lang="en-US" sz="1600" b="1" dirty="0">
                <a:solidFill>
                  <a:schemeClr val="accent1"/>
                </a:solidFill>
                <a:latin typeface="Consolas" pitchFamily="34" charset="0"/>
                <a:ea typeface="Consolas" pitchFamily="34" charset="-122"/>
                <a:cs typeface="Consolas" pitchFamily="34" charset="-120"/>
              </a:rPr>
              <a:t>python start_frostmind.py</a:t>
            </a:r>
            <a:pPr indent="0" marL="0">
              <a:buNone/>
            </a:pPr>
            <a:r>
              <a:rPr lang="en-US" sz="1600" dirty="0">
                <a:solidFill>
                  <a:schemeClr val="tx1"/>
                </a:solidFill>
                <a:latin typeface="Calibri" pitchFamily="34" charset="0"/>
                <a:ea typeface="Calibri" pitchFamily="34" charset="-122"/>
                <a:cs typeface="Calibri" pitchFamily="34" charset="-120"/>
              </a:rPr>
              <a:t>  starts the backend, the phone app and the admin panel, and prints the addresses to open.</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8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libri" pitchFamily="34" charset="0"/>
                <a:ea typeface="Calibri" pitchFamily="34" charset="-122"/>
                <a:cs typeface="Calibri" pitchFamily="34" charset="-120"/>
              </a:rPr>
              <a:t>No IP lock: it works on whatever network you're on</a:t>
            </a:r>
            <a:endParaRPr lang="en-US" sz="3200" dirty="0"/>
          </a:p>
        </p:txBody>
      </p:sp>
      <p:sp>
        <p:nvSpPr>
          <p:cNvPr id="3" name="icon circle FaSearchLocation"/>
          <p:cNvSpPr/>
          <p:nvPr/>
        </p:nvSpPr>
        <p:spPr>
          <a:xfrm>
            <a:off x="548640" y="1325880"/>
            <a:ext cx="777240" cy="777240"/>
          </a:xfrm>
          <a:prstGeom prst="ellipse">
            <a:avLst/>
          </a:prstGeom>
          <a:solidFill>
            <a:schemeClr val="accent1"/>
          </a:solidFill>
          <a:ln w="12700">
            <a:solidFill>
              <a:schemeClr val="accent1"/>
            </a:solidFill>
            <a:prstDash val="solid"/>
          </a:ln>
        </p:spPr>
      </p:sp>
      <p:pic>
        <p:nvPicPr>
          <p:cNvPr id="4" name="Image 0" descr="FaSearchLocation">    </p:cNvPr>
          <p:cNvPicPr>
            <a:picLocks noChangeAspect="1"/>
          </p:cNvPicPr>
          <p:nvPr/>
        </p:nvPicPr>
        <p:blipFill>
          <a:blip r:embed="rId1"/>
          <a:stretch>
            <a:fillRect/>
          </a:stretch>
        </p:blipFill>
        <p:spPr>
          <a:xfrm>
            <a:off x="735178" y="1512418"/>
            <a:ext cx="404165" cy="404165"/>
          </a:xfrm>
          <a:prstGeom prst="rect">
            <a:avLst/>
          </a:prstGeom>
        </p:spPr>
      </p:pic>
      <p:sp>
        <p:nvSpPr>
          <p:cNvPr id="5" name="Text 2"/>
          <p:cNvSpPr txBox="1"/>
          <p:nvPr/>
        </p:nvSpPr>
        <p:spPr>
          <a:xfrm>
            <a:off x="1554480" y="1307592"/>
            <a:ext cx="4937760" cy="411480"/>
          </a:xfrm>
          <a:prstGeom prst="rect">
            <a:avLst/>
          </a:prstGeom>
          <a:noFill/>
          <a:ln/>
        </p:spPr>
        <p:txBody>
          <a:bodyPr wrap="square" lIns="0" tIns="0" rIns="0" bIns="0" rtlCol="0" anchor="t"/>
          <a:lstStyle/>
          <a:p>
            <a:pPr indent="0" marL="0">
              <a:buNone/>
            </a:pPr>
            <a:r>
              <a:rPr lang="en-US" sz="1900" b="1" dirty="0">
                <a:solidFill>
                  <a:schemeClr val="tx1"/>
                </a:solidFill>
                <a:latin typeface="Calibri" pitchFamily="34" charset="0"/>
                <a:ea typeface="Calibri" pitchFamily="34" charset="-122"/>
                <a:cs typeface="Calibri" pitchFamily="34" charset="-120"/>
              </a:rPr>
              <a:t>Launcher finds the address</a:t>
            </a:r>
            <a:endParaRPr lang="en-US" sz="1900" dirty="0"/>
          </a:p>
        </p:txBody>
      </p:sp>
      <p:sp>
        <p:nvSpPr>
          <p:cNvPr id="6" name="Text 3"/>
          <p:cNvSpPr txBox="1"/>
          <p:nvPr/>
        </p:nvSpPr>
        <p:spPr>
          <a:xfrm>
            <a:off x="1554480" y="1709928"/>
            <a:ext cx="4937760" cy="64008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Detects the laptop's current LAN addresses on every start.</a:t>
            </a:r>
            <a:endParaRPr lang="en-US" sz="1500" dirty="0"/>
          </a:p>
        </p:txBody>
      </p:sp>
      <p:sp>
        <p:nvSpPr>
          <p:cNvPr id="7" name="icon circle FaLock"/>
          <p:cNvSpPr/>
          <p:nvPr/>
        </p:nvSpPr>
        <p:spPr>
          <a:xfrm>
            <a:off x="548640" y="2532888"/>
            <a:ext cx="777240" cy="777240"/>
          </a:xfrm>
          <a:prstGeom prst="ellipse">
            <a:avLst/>
          </a:prstGeom>
          <a:solidFill>
            <a:schemeClr val="accent1"/>
          </a:solidFill>
          <a:ln w="12700">
            <a:solidFill>
              <a:schemeClr val="accent1"/>
            </a:solidFill>
            <a:prstDash val="solid"/>
          </a:ln>
        </p:spPr>
      </p:sp>
      <p:pic>
        <p:nvPicPr>
          <p:cNvPr id="8" name="Image 1" descr="FaLock">    </p:cNvPr>
          <p:cNvPicPr>
            <a:picLocks noChangeAspect="1"/>
          </p:cNvPicPr>
          <p:nvPr/>
        </p:nvPicPr>
        <p:blipFill>
          <a:blip r:embed="rId2"/>
          <a:stretch>
            <a:fillRect/>
          </a:stretch>
        </p:blipFill>
        <p:spPr>
          <a:xfrm>
            <a:off x="735178" y="2719426"/>
            <a:ext cx="404165" cy="404165"/>
          </a:xfrm>
          <a:prstGeom prst="rect">
            <a:avLst/>
          </a:prstGeom>
        </p:spPr>
      </p:pic>
      <p:sp>
        <p:nvSpPr>
          <p:cNvPr id="9" name="Text 5"/>
          <p:cNvSpPr txBox="1"/>
          <p:nvPr/>
        </p:nvSpPr>
        <p:spPr>
          <a:xfrm>
            <a:off x="1554480" y="2514600"/>
            <a:ext cx="4937760" cy="411480"/>
          </a:xfrm>
          <a:prstGeom prst="rect">
            <a:avLst/>
          </a:prstGeom>
          <a:noFill/>
          <a:ln/>
        </p:spPr>
        <p:txBody>
          <a:bodyPr wrap="square" lIns="0" tIns="0" rIns="0" bIns="0" rtlCol="0" anchor="t"/>
          <a:lstStyle/>
          <a:p>
            <a:pPr indent="0" marL="0">
              <a:buNone/>
            </a:pPr>
            <a:r>
              <a:rPr lang="en-US" sz="1900" b="1" dirty="0">
                <a:solidFill>
                  <a:schemeClr val="tx1"/>
                </a:solidFill>
                <a:latin typeface="Calibri" pitchFamily="34" charset="0"/>
                <a:ea typeface="Calibri" pitchFamily="34" charset="-122"/>
                <a:cs typeface="Calibri" pitchFamily="34" charset="-120"/>
              </a:rPr>
              <a:t>Certificate reused</a:t>
            </a:r>
            <a:endParaRPr lang="en-US" sz="1900" dirty="0"/>
          </a:p>
        </p:txBody>
      </p:sp>
      <p:sp>
        <p:nvSpPr>
          <p:cNvPr id="10" name="Text 6"/>
          <p:cNvSpPr txBox="1"/>
          <p:nvPr/>
        </p:nvSpPr>
        <p:spPr>
          <a:xfrm>
            <a:off x="1554480" y="2916936"/>
            <a:ext cx="4937760" cy="64008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Covers every current address; kept while valid, so the phone accepts it once.</a:t>
            </a:r>
            <a:endParaRPr lang="en-US" sz="1500" dirty="0"/>
          </a:p>
        </p:txBody>
      </p:sp>
      <p:sp>
        <p:nvSpPr>
          <p:cNvPr id="11" name="icon circle FaMobileAlt"/>
          <p:cNvSpPr/>
          <p:nvPr/>
        </p:nvSpPr>
        <p:spPr>
          <a:xfrm>
            <a:off x="548640" y="3739896"/>
            <a:ext cx="777240" cy="777240"/>
          </a:xfrm>
          <a:prstGeom prst="ellipse">
            <a:avLst/>
          </a:prstGeom>
          <a:solidFill>
            <a:schemeClr val="accent1"/>
          </a:solidFill>
          <a:ln w="12700">
            <a:solidFill>
              <a:schemeClr val="accent1"/>
            </a:solidFill>
            <a:prstDash val="solid"/>
          </a:ln>
        </p:spPr>
      </p:sp>
      <p:pic>
        <p:nvPicPr>
          <p:cNvPr id="12" name="Image 2" descr="FaMobileAlt">    </p:cNvPr>
          <p:cNvPicPr>
            <a:picLocks noChangeAspect="1"/>
          </p:cNvPicPr>
          <p:nvPr/>
        </p:nvPicPr>
        <p:blipFill>
          <a:blip r:embed="rId3"/>
          <a:stretch>
            <a:fillRect/>
          </a:stretch>
        </p:blipFill>
        <p:spPr>
          <a:xfrm>
            <a:off x="735178" y="3926434"/>
            <a:ext cx="404165" cy="404165"/>
          </a:xfrm>
          <a:prstGeom prst="rect">
            <a:avLst/>
          </a:prstGeom>
        </p:spPr>
      </p:pic>
      <p:sp>
        <p:nvSpPr>
          <p:cNvPr id="13" name="Text 8"/>
          <p:cNvSpPr txBox="1"/>
          <p:nvPr/>
        </p:nvSpPr>
        <p:spPr>
          <a:xfrm>
            <a:off x="1554480" y="3721608"/>
            <a:ext cx="4937760" cy="411480"/>
          </a:xfrm>
          <a:prstGeom prst="rect">
            <a:avLst/>
          </a:prstGeom>
          <a:noFill/>
          <a:ln/>
        </p:spPr>
        <p:txBody>
          <a:bodyPr wrap="square" lIns="0" tIns="0" rIns="0" bIns="0" rtlCol="0" anchor="t"/>
          <a:lstStyle/>
          <a:p>
            <a:pPr indent="0" marL="0">
              <a:buNone/>
            </a:pPr>
            <a:r>
              <a:rPr lang="en-US" sz="1900" b="1" dirty="0">
                <a:solidFill>
                  <a:schemeClr val="tx1"/>
                </a:solidFill>
                <a:latin typeface="Calibri" pitchFamily="34" charset="0"/>
                <a:ea typeface="Calibri" pitchFamily="34" charset="-122"/>
                <a:cs typeface="Calibri" pitchFamily="34" charset="-120"/>
              </a:rPr>
              <a:t>Phone follows the page</a:t>
            </a:r>
            <a:endParaRPr lang="en-US" sz="1900" dirty="0"/>
          </a:p>
        </p:txBody>
      </p:sp>
      <p:sp>
        <p:nvSpPr>
          <p:cNvPr id="14" name="Text 9"/>
          <p:cNvSpPr txBox="1"/>
          <p:nvPr/>
        </p:nvSpPr>
        <p:spPr>
          <a:xfrm>
            <a:off x="1554480" y="4123944"/>
            <a:ext cx="4937760" cy="64008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Calls the backend on the same host it was opened from; old saved addresses are ignored.</a:t>
            </a:r>
            <a:endParaRPr lang="en-US" sz="1500" dirty="0"/>
          </a:p>
        </p:txBody>
      </p:sp>
      <p:sp>
        <p:nvSpPr>
          <p:cNvPr id="15" name="icon circle FaDesktop"/>
          <p:cNvSpPr/>
          <p:nvPr/>
        </p:nvSpPr>
        <p:spPr>
          <a:xfrm>
            <a:off x="548640" y="4946904"/>
            <a:ext cx="777240" cy="777240"/>
          </a:xfrm>
          <a:prstGeom prst="ellipse">
            <a:avLst/>
          </a:prstGeom>
          <a:solidFill>
            <a:schemeClr val="accent1"/>
          </a:solidFill>
          <a:ln w="12700">
            <a:solidFill>
              <a:schemeClr val="accent1"/>
            </a:solidFill>
            <a:prstDash val="solid"/>
          </a:ln>
        </p:spPr>
      </p:sp>
      <p:pic>
        <p:nvPicPr>
          <p:cNvPr id="16" name="Image 3" descr="FaDesktop">    </p:cNvPr>
          <p:cNvPicPr>
            <a:picLocks noChangeAspect="1"/>
          </p:cNvPicPr>
          <p:nvPr/>
        </p:nvPicPr>
        <p:blipFill>
          <a:blip r:embed="rId4"/>
          <a:stretch>
            <a:fillRect/>
          </a:stretch>
        </p:blipFill>
        <p:spPr>
          <a:xfrm>
            <a:off x="735178" y="5133442"/>
            <a:ext cx="404165" cy="404165"/>
          </a:xfrm>
          <a:prstGeom prst="rect">
            <a:avLst/>
          </a:prstGeom>
        </p:spPr>
      </p:pic>
      <p:sp>
        <p:nvSpPr>
          <p:cNvPr id="17" name="Text 11"/>
          <p:cNvSpPr txBox="1"/>
          <p:nvPr/>
        </p:nvSpPr>
        <p:spPr>
          <a:xfrm>
            <a:off x="1554480" y="4928616"/>
            <a:ext cx="4937760" cy="411480"/>
          </a:xfrm>
          <a:prstGeom prst="rect">
            <a:avLst/>
          </a:prstGeom>
          <a:noFill/>
          <a:ln/>
        </p:spPr>
        <p:txBody>
          <a:bodyPr wrap="square" lIns="0" tIns="0" rIns="0" bIns="0" rtlCol="0" anchor="t"/>
          <a:lstStyle/>
          <a:p>
            <a:pPr indent="0" marL="0">
              <a:buNone/>
            </a:pPr>
            <a:r>
              <a:rPr lang="en-US" sz="1900" b="1" dirty="0">
                <a:solidFill>
                  <a:schemeClr val="tx1"/>
                </a:solidFill>
                <a:latin typeface="Calibri" pitchFamily="34" charset="0"/>
                <a:ea typeface="Calibri" pitchFamily="34" charset="-122"/>
                <a:cs typeface="Calibri" pitchFamily="34" charset="-120"/>
              </a:rPr>
              <a:t>Admin works from any device</a:t>
            </a:r>
            <a:endParaRPr lang="en-US" sz="1900" dirty="0"/>
          </a:p>
        </p:txBody>
      </p:sp>
      <p:sp>
        <p:nvSpPr>
          <p:cNvPr id="18" name="Text 12"/>
          <p:cNvSpPr txBox="1"/>
          <p:nvPr/>
        </p:nvSpPr>
        <p:spPr>
          <a:xfrm>
            <a:off x="1554480" y="5330952"/>
            <a:ext cx="4937760" cy="64008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API address follows the page host; the dev server allows the current addresses.</a:t>
            </a:r>
            <a:endParaRPr lang="en-US" sz="1500" dirty="0"/>
          </a:p>
        </p:txBody>
      </p:sp>
      <p:sp>
        <p:nvSpPr>
          <p:cNvPr id="19" name="install card"/>
          <p:cNvSpPr/>
          <p:nvPr/>
        </p:nvSpPr>
        <p:spPr>
          <a:xfrm>
            <a:off x="6949440" y="1325880"/>
            <a:ext cx="4663440" cy="4754880"/>
          </a:xfrm>
          <a:prstGeom prst="roundRect">
            <a:avLst>
              <a:gd name="adj" fmla="val 2353"/>
            </a:avLst>
          </a:prstGeom>
          <a:solidFill>
            <a:schemeClr val="tx1"/>
          </a:solidFill>
          <a:ln w="12700">
            <a:solidFill>
              <a:schemeClr val="tx1"/>
            </a:solidFill>
            <a:prstDash val="solid"/>
          </a:ln>
          <a:effectLst>
            <a:outerShdw sx="100000" sy="100000" kx="0" ky="0" algn="bl" rotWithShape="0" blurRad="101600" dist="25400" dir="5400000">
              <a:srgbClr val="0B1736">
                <a:alpha val="12000"/>
              </a:srgbClr>
            </a:outerShdw>
          </a:effectLst>
        </p:spPr>
      </p:sp>
      <p:sp>
        <p:nvSpPr>
          <p:cNvPr id="20" name="Text 14"/>
          <p:cNvSpPr txBox="1"/>
          <p:nvPr/>
        </p:nvSpPr>
        <p:spPr>
          <a:xfrm>
            <a:off x="7269480" y="1600200"/>
            <a:ext cx="4114800" cy="411480"/>
          </a:xfrm>
          <a:prstGeom prst="rect">
            <a:avLst/>
          </a:prstGeom>
          <a:noFill/>
          <a:ln/>
        </p:spPr>
        <p:txBody>
          <a:bodyPr wrap="square" lIns="0" tIns="0" rIns="0" bIns="0" rtlCol="0" anchor="t"/>
          <a:lstStyle/>
          <a:p>
            <a:pPr indent="0" marL="0">
              <a:buNone/>
            </a:pPr>
            <a:r>
              <a:rPr lang="en-US" sz="1900" b="1" dirty="0">
                <a:solidFill>
                  <a:schemeClr val="bg1"/>
                </a:solidFill>
                <a:latin typeface="Calibri" pitchFamily="34" charset="0"/>
                <a:ea typeface="Calibri" pitchFamily="34" charset="-122"/>
                <a:cs typeface="Calibri" pitchFamily="34" charset="-120"/>
              </a:rPr>
              <a:t>Fresh laptop in 5 commands</a:t>
            </a:r>
            <a:endParaRPr lang="en-US" sz="1900" dirty="0"/>
          </a:p>
        </p:txBody>
      </p:sp>
      <p:sp>
        <p:nvSpPr>
          <p:cNvPr id="21" name="Text 15"/>
          <p:cNvSpPr txBox="1"/>
          <p:nvPr/>
        </p:nvSpPr>
        <p:spPr>
          <a:xfrm>
            <a:off x="7269480" y="2194560"/>
            <a:ext cx="4206240" cy="2560320"/>
          </a:xfrm>
          <a:prstGeom prst="rect">
            <a:avLst/>
          </a:prstGeom>
          <a:noFill/>
          <a:ln/>
        </p:spPr>
        <p:txBody>
          <a:bodyPr wrap="square" lIns="0" tIns="0" rIns="0" bIns="0" rtlCol="0" anchor="t"/>
          <a:lstStyle/>
          <a:p>
            <a:pPr indent="0" marL="0">
              <a:spcAft>
                <a:spcPts val="1000"/>
              </a:spcAft>
              <a:buNone/>
            </a:pPr>
            <a:r>
              <a:rPr lang="en-US" sz="1300" dirty="0">
                <a:solidFill>
                  <a:schemeClr val="accent2"/>
                </a:solidFill>
                <a:latin typeface="Consolas" pitchFamily="34" charset="0"/>
                <a:ea typeface="Consolas" pitchFamily="34" charset="-122"/>
                <a:cs typeface="Consolas" pitchFamily="34" charset="-120"/>
              </a:rPr>
              <a:t>1  git clone …/frostmind</a:t>
            </a:r>
            <a:endParaRPr lang="en-US" sz="1300" dirty="0"/>
          </a:p>
          <a:p>
            <a:pPr indent="0" marL="0">
              <a:spcAft>
                <a:spcPts val="1000"/>
              </a:spcAft>
              <a:buNone/>
            </a:pPr>
            <a:r>
              <a:rPr lang="en-US" sz="1300" dirty="0">
                <a:solidFill>
                  <a:schemeClr val="accent2"/>
                </a:solidFill>
                <a:latin typeface="Consolas" pitchFamily="34" charset="0"/>
                <a:ea typeface="Consolas" pitchFamily="34" charset="-122"/>
                <a:cs typeface="Consolas" pitchFamily="34" charset="-120"/>
              </a:rPr>
              <a:t>2  python -m venv .venv</a:t>
            </a:r>
            <a:endParaRPr lang="en-US" sz="1300" dirty="0"/>
          </a:p>
          <a:p>
            <a:pPr indent="0" marL="0">
              <a:spcAft>
                <a:spcPts val="1000"/>
              </a:spcAft>
              <a:buNone/>
            </a:pPr>
            <a:r>
              <a:rPr lang="en-US" sz="1300" dirty="0">
                <a:solidFill>
                  <a:schemeClr val="accent2"/>
                </a:solidFill>
                <a:latin typeface="Consolas" pitchFamily="34" charset="0"/>
                <a:ea typeface="Consolas" pitchFamily="34" charset="-122"/>
                <a:cs typeface="Consolas" pitchFamily="34" charset="-120"/>
              </a:rPr>
              <a:t>3  pip install -r backend/requirements.txt</a:t>
            </a:r>
            <a:endParaRPr lang="en-US" sz="1300" dirty="0"/>
          </a:p>
          <a:p>
            <a:pPr indent="0" marL="0">
              <a:spcAft>
                <a:spcPts val="1000"/>
              </a:spcAft>
              <a:buNone/>
            </a:pPr>
            <a:r>
              <a:rPr lang="en-US" sz="1300" dirty="0">
                <a:solidFill>
                  <a:schemeClr val="accent2"/>
                </a:solidFill>
                <a:latin typeface="Consolas" pitchFamily="34" charset="0"/>
                <a:ea typeface="Consolas" pitchFamily="34" charset="-122"/>
                <a:cs typeface="Consolas" pitchFamily="34" charset="-120"/>
              </a:rPr>
              <a:t>4  python scripts/train_all.py</a:t>
            </a:r>
            <a:endParaRPr lang="en-US" sz="1300" dirty="0"/>
          </a:p>
          <a:p>
            <a:pPr indent="0" marL="0">
              <a:spcAft>
                <a:spcPts val="1000"/>
              </a:spcAft>
              <a:buNone/>
            </a:pPr>
            <a:r>
              <a:rPr lang="en-US" sz="1300" dirty="0">
                <a:solidFill>
                  <a:schemeClr val="accent2"/>
                </a:solidFill>
                <a:latin typeface="Consolas" pitchFamily="34" charset="0"/>
                <a:ea typeface="Consolas" pitchFamily="34" charset="-122"/>
                <a:cs typeface="Consolas" pitchFamily="34" charset="-120"/>
              </a:rPr>
              <a:t>5  python start_frostmind.py</a:t>
            </a:r>
            <a:endParaRPr lang="en-US" sz="1300" dirty="0"/>
          </a:p>
        </p:txBody>
      </p:sp>
      <p:sp>
        <p:nvSpPr>
          <p:cNvPr id="22" name="Text 16"/>
          <p:cNvSpPr txBox="1"/>
          <p:nvPr/>
        </p:nvSpPr>
        <p:spPr>
          <a:xfrm>
            <a:off x="7269480" y="4800600"/>
            <a:ext cx="4114800" cy="1005840"/>
          </a:xfrm>
          <a:prstGeom prst="rect">
            <a:avLst/>
          </a:prstGeom>
          <a:noFill/>
          <a:ln/>
        </p:spPr>
        <p:txBody>
          <a:bodyPr wrap="square" lIns="0" tIns="0" rIns="0" bIns="0" rtlCol="0" anchor="t"/>
          <a:lstStyle/>
          <a:p>
            <a:pPr indent="0" marL="0">
              <a:buNone/>
            </a:pPr>
            <a:r>
              <a:rPr lang="en-US" sz="1400" dirty="0">
                <a:solidFill>
                  <a:schemeClr val="bg1"/>
                </a:solidFill>
                <a:latin typeface="Calibri" pitchFamily="34" charset="0"/>
                <a:ea typeface="Calibri" pitchFamily="34" charset="-122"/>
                <a:cs typeface="Calibri" pitchFamily="34" charset="-120"/>
              </a:rPr>
              <a:t>Then on the phone: accept the certificate at :8000/health and :5500, and follow the setup wizard.</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8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libri" pitchFamily="34" charset="0"/>
                <a:ea typeface="Calibri" pitchFamily="34" charset="-122"/>
                <a:cs typeface="Calibri" pitchFamily="34" charset="-120"/>
              </a:rPr>
              <a:t>A driver sets up a truck in six guided steps</a:t>
            </a:r>
            <a:endParaRPr lang="en-US" sz="3200" dirty="0"/>
          </a:p>
        </p:txBody>
      </p:sp>
      <p:sp>
        <p:nvSpPr>
          <p:cNvPr id="3" name="step 1"/>
          <p:cNvSpPr/>
          <p:nvPr/>
        </p:nvSpPr>
        <p:spPr>
          <a:xfrm>
            <a:off x="548640" y="1325880"/>
            <a:ext cx="2514600" cy="2286000"/>
          </a:xfrm>
          <a:prstGeom prst="roundRect">
            <a:avLst>
              <a:gd name="adj" fmla="val 4800"/>
            </a:avLst>
          </a:prstGeom>
          <a:solidFill>
            <a:schemeClr val="bg2"/>
          </a:solidFill>
          <a:ln w="12700">
            <a:solidFill>
              <a:schemeClr val="bg2"/>
            </a:solidFill>
            <a:prstDash val="solid"/>
          </a:ln>
          <a:effectLst>
            <a:outerShdw sx="100000" sy="100000" kx="0" ky="0" algn="bl" rotWithShape="0" blurRad="101600" dist="25400" dir="5400000">
              <a:srgbClr val="0B1736">
                <a:alpha val="12000"/>
              </a:srgbClr>
            </a:outerShdw>
          </a:effectLst>
        </p:spPr>
      </p:sp>
      <p:sp>
        <p:nvSpPr>
          <p:cNvPr id="4" name="step number 1"/>
          <p:cNvSpPr/>
          <p:nvPr/>
        </p:nvSpPr>
        <p:spPr>
          <a:xfrm>
            <a:off x="777240" y="1554480"/>
            <a:ext cx="548640" cy="548640"/>
          </a:xfrm>
          <a:prstGeom prst="ellipse">
            <a:avLst/>
          </a:prstGeom>
          <a:solidFill>
            <a:schemeClr val="accent1"/>
          </a:solidFill>
          <a:ln w="12700">
            <a:solidFill>
              <a:schemeClr val="accent1"/>
            </a:solidFill>
            <a:prstDash val="solid"/>
          </a:ln>
        </p:spPr>
      </p:sp>
      <p:sp>
        <p:nvSpPr>
          <p:cNvPr id="5" name="Text 3"/>
          <p:cNvSpPr txBox="1"/>
          <p:nvPr/>
        </p:nvSpPr>
        <p:spPr>
          <a:xfrm>
            <a:off x="777240" y="15544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1</a:t>
            </a:r>
            <a:endParaRPr lang="en-US" sz="2000" dirty="0"/>
          </a:p>
        </p:txBody>
      </p:sp>
      <p:sp>
        <p:nvSpPr>
          <p:cNvPr id="6" name="Text 4"/>
          <p:cNvSpPr txBox="1"/>
          <p:nvPr/>
        </p:nvSpPr>
        <p:spPr>
          <a:xfrm>
            <a:off x="777240" y="2221992"/>
            <a:ext cx="2103120" cy="384048"/>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Pair</a:t>
            </a:r>
            <a:endParaRPr lang="en-US" sz="1800" dirty="0"/>
          </a:p>
        </p:txBody>
      </p:sp>
      <p:sp>
        <p:nvSpPr>
          <p:cNvPr id="7" name="Text 5"/>
          <p:cNvSpPr txBox="1"/>
          <p:nvPr/>
        </p:nvSpPr>
        <p:spPr>
          <a:xfrm>
            <a:off x="777240" y="2624328"/>
            <a:ext cx="2103120" cy="91440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Pick the box in Chrome's Bluetooth list. Errors come back as instructions.</a:t>
            </a:r>
            <a:endParaRPr lang="en-US" sz="1300" dirty="0"/>
          </a:p>
        </p:txBody>
      </p:sp>
      <p:sp>
        <p:nvSpPr>
          <p:cNvPr id="8" name="step 2"/>
          <p:cNvSpPr/>
          <p:nvPr/>
        </p:nvSpPr>
        <p:spPr>
          <a:xfrm>
            <a:off x="3246120" y="1325880"/>
            <a:ext cx="2514600" cy="2286000"/>
          </a:xfrm>
          <a:prstGeom prst="roundRect">
            <a:avLst>
              <a:gd name="adj" fmla="val 4800"/>
            </a:avLst>
          </a:prstGeom>
          <a:solidFill>
            <a:schemeClr val="bg2"/>
          </a:solidFill>
          <a:ln w="12700">
            <a:solidFill>
              <a:schemeClr val="bg2"/>
            </a:solidFill>
            <a:prstDash val="solid"/>
          </a:ln>
          <a:effectLst>
            <a:outerShdw sx="100000" sy="100000" kx="0" ky="0" algn="bl" rotWithShape="0" blurRad="101600" dist="25400" dir="5400000">
              <a:srgbClr val="0B1736">
                <a:alpha val="12000"/>
              </a:srgbClr>
            </a:outerShdw>
          </a:effectLst>
        </p:spPr>
      </p:sp>
      <p:sp>
        <p:nvSpPr>
          <p:cNvPr id="9" name="step number 2"/>
          <p:cNvSpPr/>
          <p:nvPr/>
        </p:nvSpPr>
        <p:spPr>
          <a:xfrm>
            <a:off x="3474720" y="1554480"/>
            <a:ext cx="548640" cy="548640"/>
          </a:xfrm>
          <a:prstGeom prst="ellipse">
            <a:avLst/>
          </a:prstGeom>
          <a:solidFill>
            <a:schemeClr val="accent1"/>
          </a:solidFill>
          <a:ln w="12700">
            <a:solidFill>
              <a:schemeClr val="accent1"/>
            </a:solidFill>
            <a:prstDash val="solid"/>
          </a:ln>
        </p:spPr>
      </p:sp>
      <p:sp>
        <p:nvSpPr>
          <p:cNvPr id="10" name="Text 8"/>
          <p:cNvSpPr txBox="1"/>
          <p:nvPr/>
        </p:nvSpPr>
        <p:spPr>
          <a:xfrm>
            <a:off x="3474720" y="15544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2</a:t>
            </a:r>
            <a:endParaRPr lang="en-US" sz="2000" dirty="0"/>
          </a:p>
        </p:txBody>
      </p:sp>
      <p:sp>
        <p:nvSpPr>
          <p:cNvPr id="11" name="Text 9"/>
          <p:cNvSpPr txBox="1"/>
          <p:nvPr/>
        </p:nvSpPr>
        <p:spPr>
          <a:xfrm>
            <a:off x="3474720" y="2221992"/>
            <a:ext cx="2103120" cy="384048"/>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Register</a:t>
            </a:r>
            <a:endParaRPr lang="en-US" sz="1800" dirty="0"/>
          </a:p>
        </p:txBody>
      </p:sp>
      <p:sp>
        <p:nvSpPr>
          <p:cNvPr id="12" name="Text 10"/>
          <p:cNvSpPr txBox="1"/>
          <p:nvPr/>
        </p:nvSpPr>
        <p:spPr>
          <a:xfrm>
            <a:off x="3474720" y="2624328"/>
            <a:ext cx="2103120" cy="91440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The device ID comes from the connection. Nothing to type.</a:t>
            </a:r>
            <a:endParaRPr lang="en-US" sz="1300" dirty="0"/>
          </a:p>
        </p:txBody>
      </p:sp>
      <p:sp>
        <p:nvSpPr>
          <p:cNvPr id="13" name="step 3"/>
          <p:cNvSpPr/>
          <p:nvPr/>
        </p:nvSpPr>
        <p:spPr>
          <a:xfrm>
            <a:off x="5943600" y="1325880"/>
            <a:ext cx="2514600" cy="2286000"/>
          </a:xfrm>
          <a:prstGeom prst="roundRect">
            <a:avLst>
              <a:gd name="adj" fmla="val 4800"/>
            </a:avLst>
          </a:prstGeom>
          <a:solidFill>
            <a:schemeClr val="bg2"/>
          </a:solidFill>
          <a:ln w="12700">
            <a:solidFill>
              <a:schemeClr val="bg2"/>
            </a:solidFill>
            <a:prstDash val="solid"/>
          </a:ln>
          <a:effectLst>
            <a:outerShdw sx="100000" sy="100000" kx="0" ky="0" algn="bl" rotWithShape="0" blurRad="101600" dist="25400" dir="5400000">
              <a:srgbClr val="0B1736">
                <a:alpha val="12000"/>
              </a:srgbClr>
            </a:outerShdw>
          </a:effectLst>
        </p:spPr>
      </p:sp>
      <p:sp>
        <p:nvSpPr>
          <p:cNvPr id="14" name="step number 3"/>
          <p:cNvSpPr/>
          <p:nvPr/>
        </p:nvSpPr>
        <p:spPr>
          <a:xfrm>
            <a:off x="6172200" y="1554480"/>
            <a:ext cx="548640" cy="548640"/>
          </a:xfrm>
          <a:prstGeom prst="ellipse">
            <a:avLst/>
          </a:prstGeom>
          <a:solidFill>
            <a:schemeClr val="accent1"/>
          </a:solidFill>
          <a:ln w="12700">
            <a:solidFill>
              <a:schemeClr val="accent1"/>
            </a:solidFill>
            <a:prstDash val="solid"/>
          </a:ln>
        </p:spPr>
      </p:sp>
      <p:sp>
        <p:nvSpPr>
          <p:cNvPr id="15" name="Text 13"/>
          <p:cNvSpPr txBox="1"/>
          <p:nvPr/>
        </p:nvSpPr>
        <p:spPr>
          <a:xfrm>
            <a:off x="6172200" y="15544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3</a:t>
            </a:r>
            <a:endParaRPr lang="en-US" sz="2000" dirty="0"/>
          </a:p>
        </p:txBody>
      </p:sp>
      <p:sp>
        <p:nvSpPr>
          <p:cNvPr id="16" name="Text 14"/>
          <p:cNvSpPr txBox="1"/>
          <p:nvPr/>
        </p:nvSpPr>
        <p:spPr>
          <a:xfrm>
            <a:off x="6172200" y="2221992"/>
            <a:ext cx="2103120" cy="384048"/>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What's on board?</a:t>
            </a:r>
            <a:endParaRPr lang="en-US" sz="1800" dirty="0"/>
          </a:p>
        </p:txBody>
      </p:sp>
      <p:sp>
        <p:nvSpPr>
          <p:cNvPr id="17" name="Text 15"/>
          <p:cNvSpPr txBox="1"/>
          <p:nvPr/>
        </p:nvSpPr>
        <p:spPr>
          <a:xfrm>
            <a:off x="6172200" y="2624328"/>
            <a:ext cx="2103120" cy="91440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Add products and kg; the AI splits them into compartments with setpoints.</a:t>
            </a:r>
            <a:endParaRPr lang="en-US" sz="1300" dirty="0"/>
          </a:p>
        </p:txBody>
      </p:sp>
      <p:sp>
        <p:nvSpPr>
          <p:cNvPr id="18" name="step 4"/>
          <p:cNvSpPr/>
          <p:nvPr/>
        </p:nvSpPr>
        <p:spPr>
          <a:xfrm>
            <a:off x="548640" y="3794760"/>
            <a:ext cx="2514600" cy="2286000"/>
          </a:xfrm>
          <a:prstGeom prst="roundRect">
            <a:avLst>
              <a:gd name="adj" fmla="val 4800"/>
            </a:avLst>
          </a:prstGeom>
          <a:solidFill>
            <a:schemeClr val="bg2"/>
          </a:solidFill>
          <a:ln w="12700">
            <a:solidFill>
              <a:schemeClr val="bg2"/>
            </a:solidFill>
            <a:prstDash val="solid"/>
          </a:ln>
          <a:effectLst>
            <a:outerShdw sx="100000" sy="100000" kx="0" ky="0" algn="bl" rotWithShape="0" blurRad="101600" dist="25400" dir="5400000">
              <a:srgbClr val="0B1736">
                <a:alpha val="12000"/>
              </a:srgbClr>
            </a:outerShdw>
          </a:effectLst>
        </p:spPr>
      </p:sp>
      <p:sp>
        <p:nvSpPr>
          <p:cNvPr id="19" name="step number 4"/>
          <p:cNvSpPr/>
          <p:nvPr/>
        </p:nvSpPr>
        <p:spPr>
          <a:xfrm>
            <a:off x="777240" y="4023360"/>
            <a:ext cx="548640" cy="548640"/>
          </a:xfrm>
          <a:prstGeom prst="ellipse">
            <a:avLst/>
          </a:prstGeom>
          <a:solidFill>
            <a:schemeClr val="accent1"/>
          </a:solidFill>
          <a:ln w="12700">
            <a:solidFill>
              <a:schemeClr val="accent1"/>
            </a:solidFill>
            <a:prstDash val="solid"/>
          </a:ln>
        </p:spPr>
      </p:sp>
      <p:sp>
        <p:nvSpPr>
          <p:cNvPr id="20" name="Text 18"/>
          <p:cNvSpPr txBox="1"/>
          <p:nvPr/>
        </p:nvSpPr>
        <p:spPr>
          <a:xfrm>
            <a:off x="777240" y="40233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4</a:t>
            </a:r>
            <a:endParaRPr lang="en-US" sz="2000" dirty="0"/>
          </a:p>
        </p:txBody>
      </p:sp>
      <p:sp>
        <p:nvSpPr>
          <p:cNvPr id="21" name="Text 19"/>
          <p:cNvSpPr txBox="1"/>
          <p:nvPr/>
        </p:nvSpPr>
        <p:spPr>
          <a:xfrm>
            <a:off x="777240" y="4690872"/>
            <a:ext cx="2103120" cy="384048"/>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Pair the AC</a:t>
            </a:r>
            <a:endParaRPr lang="en-US" sz="1800" dirty="0"/>
          </a:p>
        </p:txBody>
      </p:sp>
      <p:sp>
        <p:nvSpPr>
          <p:cNvPr id="22" name="Text 20"/>
          <p:cNvSpPr txBox="1"/>
          <p:nvPr/>
        </p:nvSpPr>
        <p:spPr>
          <a:xfrm>
            <a:off x="777240" y="5093208"/>
            <a:ext cx="2103120" cy="91440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Thermal-feedback sweep, with a manual fallback.</a:t>
            </a:r>
            <a:endParaRPr lang="en-US" sz="1300" dirty="0"/>
          </a:p>
        </p:txBody>
      </p:sp>
      <p:sp>
        <p:nvSpPr>
          <p:cNvPr id="23" name="step 5"/>
          <p:cNvSpPr/>
          <p:nvPr/>
        </p:nvSpPr>
        <p:spPr>
          <a:xfrm>
            <a:off x="3246120" y="3794760"/>
            <a:ext cx="2514600" cy="2286000"/>
          </a:xfrm>
          <a:prstGeom prst="roundRect">
            <a:avLst>
              <a:gd name="adj" fmla="val 4800"/>
            </a:avLst>
          </a:prstGeom>
          <a:solidFill>
            <a:schemeClr val="bg2"/>
          </a:solidFill>
          <a:ln w="12700">
            <a:solidFill>
              <a:schemeClr val="bg2"/>
            </a:solidFill>
            <a:prstDash val="solid"/>
          </a:ln>
          <a:effectLst>
            <a:outerShdw sx="100000" sy="100000" kx="0" ky="0" algn="bl" rotWithShape="0" blurRad="101600" dist="25400" dir="5400000">
              <a:srgbClr val="0B1736">
                <a:alpha val="12000"/>
              </a:srgbClr>
            </a:outerShdw>
          </a:effectLst>
        </p:spPr>
      </p:sp>
      <p:sp>
        <p:nvSpPr>
          <p:cNvPr id="24" name="step number 5"/>
          <p:cNvSpPr/>
          <p:nvPr/>
        </p:nvSpPr>
        <p:spPr>
          <a:xfrm>
            <a:off x="3474720" y="4023360"/>
            <a:ext cx="548640" cy="548640"/>
          </a:xfrm>
          <a:prstGeom prst="ellipse">
            <a:avLst/>
          </a:prstGeom>
          <a:solidFill>
            <a:schemeClr val="accent1"/>
          </a:solidFill>
          <a:ln w="12700">
            <a:solidFill>
              <a:schemeClr val="accent1"/>
            </a:solidFill>
            <a:prstDash val="solid"/>
          </a:ln>
        </p:spPr>
      </p:sp>
      <p:sp>
        <p:nvSpPr>
          <p:cNvPr id="25" name="Text 23"/>
          <p:cNvSpPr txBox="1"/>
          <p:nvPr/>
        </p:nvSpPr>
        <p:spPr>
          <a:xfrm>
            <a:off x="3474720" y="40233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5</a:t>
            </a:r>
            <a:endParaRPr lang="en-US" sz="2000" dirty="0"/>
          </a:p>
        </p:txBody>
      </p:sp>
      <p:sp>
        <p:nvSpPr>
          <p:cNvPr id="26" name="Text 24"/>
          <p:cNvSpPr txBox="1"/>
          <p:nvPr/>
        </p:nvSpPr>
        <p:spPr>
          <a:xfrm>
            <a:off x="3474720" y="4690872"/>
            <a:ext cx="2103120" cy="384048"/>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Confirm data</a:t>
            </a:r>
            <a:endParaRPr lang="en-US" sz="1800" dirty="0"/>
          </a:p>
        </p:txBody>
      </p:sp>
      <p:sp>
        <p:nvSpPr>
          <p:cNvPr id="27" name="Text 25"/>
          <p:cNvSpPr txBox="1"/>
          <p:nvPr/>
        </p:nvSpPr>
        <p:spPr>
          <a:xfrm>
            <a:off x="3474720" y="5093208"/>
            <a:ext cx="2103120" cy="91440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Waits for real readings; 'Flash the lights' proves the reverse path.</a:t>
            </a:r>
            <a:endParaRPr lang="en-US" sz="1300" dirty="0"/>
          </a:p>
        </p:txBody>
      </p:sp>
      <p:sp>
        <p:nvSpPr>
          <p:cNvPr id="28" name="step 6"/>
          <p:cNvSpPr/>
          <p:nvPr/>
        </p:nvSpPr>
        <p:spPr>
          <a:xfrm>
            <a:off x="5943600" y="3794760"/>
            <a:ext cx="2514600" cy="2286000"/>
          </a:xfrm>
          <a:prstGeom prst="roundRect">
            <a:avLst>
              <a:gd name="adj" fmla="val 4800"/>
            </a:avLst>
          </a:prstGeom>
          <a:solidFill>
            <a:schemeClr val="bg2"/>
          </a:solidFill>
          <a:ln w="12700">
            <a:solidFill>
              <a:schemeClr val="bg2"/>
            </a:solidFill>
            <a:prstDash val="solid"/>
          </a:ln>
          <a:effectLst>
            <a:outerShdw sx="100000" sy="100000" kx="0" ky="0" algn="bl" rotWithShape="0" blurRad="101600" dist="25400" dir="5400000">
              <a:srgbClr val="0B1736">
                <a:alpha val="12000"/>
              </a:srgbClr>
            </a:outerShdw>
          </a:effectLst>
        </p:spPr>
      </p:sp>
      <p:sp>
        <p:nvSpPr>
          <p:cNvPr id="29" name="step number 6"/>
          <p:cNvSpPr/>
          <p:nvPr/>
        </p:nvSpPr>
        <p:spPr>
          <a:xfrm>
            <a:off x="6172200" y="4023360"/>
            <a:ext cx="548640" cy="548640"/>
          </a:xfrm>
          <a:prstGeom prst="ellipse">
            <a:avLst/>
          </a:prstGeom>
          <a:solidFill>
            <a:schemeClr val="accent1"/>
          </a:solidFill>
          <a:ln w="12700">
            <a:solidFill>
              <a:schemeClr val="accent1"/>
            </a:solidFill>
            <a:prstDash val="solid"/>
          </a:ln>
        </p:spPr>
      </p:sp>
      <p:sp>
        <p:nvSpPr>
          <p:cNvPr id="30" name="Text 28"/>
          <p:cNvSpPr txBox="1"/>
          <p:nvPr/>
        </p:nvSpPr>
        <p:spPr>
          <a:xfrm>
            <a:off x="6172200" y="40233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6</a:t>
            </a:r>
            <a:endParaRPr lang="en-US" sz="2000" dirty="0"/>
          </a:p>
        </p:txBody>
      </p:sp>
      <p:sp>
        <p:nvSpPr>
          <p:cNvPr id="31" name="Text 29"/>
          <p:cNvSpPr txBox="1"/>
          <p:nvPr/>
        </p:nvSpPr>
        <p:spPr>
          <a:xfrm>
            <a:off x="6172200" y="4690872"/>
            <a:ext cx="2103120" cy="384048"/>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Go live</a:t>
            </a:r>
            <a:endParaRPr lang="en-US" sz="1800" dirty="0"/>
          </a:p>
        </p:txBody>
      </p:sp>
      <p:sp>
        <p:nvSpPr>
          <p:cNvPr id="32" name="Text 30"/>
          <p:cNvSpPr txBox="1"/>
          <p:nvPr/>
        </p:nvSpPr>
        <p:spPr>
          <a:xfrm>
            <a:off x="6172200" y="5093208"/>
            <a:ext cx="2103120" cy="91440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Upload queue, GPS and the live dashboard with the AI panel.</a:t>
            </a:r>
            <a:endParaRPr lang="en-US" sz="1300" dirty="0"/>
          </a:p>
        </p:txBody>
      </p:sp>
      <p:pic>
        <p:nvPicPr>
          <p:cNvPr id="33" name="Image 0" descr="Phone setup step 3 screenshot">    </p:cNvPr>
          <p:cNvPicPr>
            <a:picLocks noChangeAspect="1"/>
          </p:cNvPicPr>
          <p:nvPr/>
        </p:nvPicPr>
        <p:blipFill>
          <a:blip r:embed="rId1"/>
          <a:stretch>
            <a:fillRect/>
          </a:stretch>
        </p:blipFill>
        <p:spPr>
          <a:xfrm>
            <a:off x="9281160" y="1325880"/>
            <a:ext cx="2102628" cy="4754880"/>
          </a:xfrm>
          <a:prstGeom prst="rect">
            <a:avLst/>
          </a:prstGeom>
        </p:spPr>
      </p:pic>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8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libri" pitchFamily="34" charset="0"/>
                <a:ea typeface="Calibri" pitchFamily="34" charset="-122"/>
                <a:cs typeface="Calibri" pitchFamily="34" charset="-120"/>
              </a:rPr>
              <a:t>The light strip follows the trip, one look at a time</a:t>
            </a:r>
            <a:endParaRPr lang="en-US" sz="3200" dirty="0"/>
          </a:p>
        </p:txBody>
      </p:sp>
      <p:pic>
        <p:nvPicPr>
          <p:cNvPr id="3" name="Image 0" descr="Light strip workflow">    </p:cNvPr>
          <p:cNvPicPr>
            <a:picLocks noChangeAspect="1"/>
          </p:cNvPicPr>
          <p:nvPr/>
        </p:nvPicPr>
        <p:blipFill>
          <a:blip r:embed="rId1"/>
          <a:stretch>
            <a:fillRect/>
          </a:stretch>
        </p:blipFill>
        <p:spPr>
          <a:xfrm>
            <a:off x="1353312" y="1234440"/>
            <a:ext cx="9479120" cy="5029200"/>
          </a:xfrm>
          <a:prstGeom prst="rect">
            <a:avLst/>
          </a:prstGeom>
        </p:spPr>
      </p:pic>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8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libri" pitchFamily="34" charset="0"/>
                <a:ea typeface="Calibri" pitchFamily="34" charset="-122"/>
                <a:cs typeface="Calibri" pitchFamily="34" charset="-120"/>
              </a:rPr>
              <a:t>Usability, improved by using it for real</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5120640"/>
                <a:gridCol w="5943600"/>
              </a:tblGrid>
              <a:tr h="566928">
                <a:tc>
                  <a:txBody>
                    <a:bodyPr/>
                    <a:lstStyle/>
                    <a:p>
                      <a:pPr indent="0" marL="0">
                        <a:buNone/>
                      </a:pPr>
                      <a:r>
                        <a:rPr lang="en-US" sz="1500" b="1" dirty="0">
                          <a:solidFill>
                            <a:srgbClr val="FFFFFF"/>
                          </a:solidFill>
                        </a:rPr>
                        <a:t>We found</a:t>
                      </a:r>
                      <a:endParaRPr lang="en-US" sz="1500" dirty="0"/>
                    </a:p>
                  </a:txBody>
                  <a:tcPr marL="137160" marR="137160" marT="54864" marB="54864" anchor="ctr">
                    <a:lnL w="9525" cap="flat" cmpd="sng" algn="ctr">
                      <a:solidFill>
                        <a:srgbClr val="C9D3EA"/>
                      </a:solidFill>
                      <a:prstDash val="solid"/>
                      <a:round/>
                      <a:headEnd type="none" w="med" len="med"/>
                      <a:tailEnd type="none" w="med" len="med"/>
                    </a:lnL>
                    <a:lnR w="9525" cap="flat" cmpd="sng" algn="ctr">
                      <a:solidFill>
                        <a:srgbClr val="C9D3EA"/>
                      </a:solidFill>
                      <a:prstDash val="solid"/>
                      <a:round/>
                      <a:headEnd type="none" w="med" len="med"/>
                      <a:tailEnd type="none" w="med" len="med"/>
                    </a:lnR>
                    <a:lnT w="9525" cap="flat" cmpd="sng" algn="ctr">
                      <a:solidFill>
                        <a:srgbClr val="C9D3EA"/>
                      </a:solidFill>
                      <a:prstDash val="solid"/>
                      <a:round/>
                      <a:headEnd type="none" w="med" len="med"/>
                      <a:tailEnd type="none" w="med" len="med"/>
                    </a:lnT>
                    <a:lnB w="9525" cap="flat" cmpd="sng" algn="ctr">
                      <a:solidFill>
                        <a:srgbClr val="C9D3EA"/>
                      </a:solidFill>
                      <a:prstDash val="solid"/>
                      <a:round/>
                      <a:headEnd type="none" w="med" len="med"/>
                      <a:tailEnd type="none" w="med" len="med"/>
                    </a:lnB>
                    <a:solidFill>
                      <a:srgbClr val="0B1736"/>
                    </a:solidFill>
                  </a:tcPr>
                </a:tc>
                <a:tc>
                  <a:txBody>
                    <a:bodyPr/>
                    <a:lstStyle/>
                    <a:p>
                      <a:pPr indent="0" marL="0">
                        <a:buNone/>
                      </a:pPr>
                      <a:r>
                        <a:rPr lang="en-US" sz="1500" b="1" dirty="0">
                          <a:solidFill>
                            <a:srgbClr val="FFFFFF"/>
                          </a:solidFill>
                        </a:rPr>
                        <a:t>We fixed</a:t>
                      </a:r>
                      <a:endParaRPr lang="en-US" sz="1500" dirty="0"/>
                    </a:p>
                  </a:txBody>
                  <a:tcPr marL="137160" marR="137160" marT="54864" marB="54864" anchor="ctr">
                    <a:lnL w="9525" cap="flat" cmpd="sng" algn="ctr">
                      <a:solidFill>
                        <a:srgbClr val="C9D3EA"/>
                      </a:solidFill>
                      <a:prstDash val="solid"/>
                      <a:round/>
                      <a:headEnd type="none" w="med" len="med"/>
                      <a:tailEnd type="none" w="med" len="med"/>
                    </a:lnL>
                    <a:lnR w="9525" cap="flat" cmpd="sng" algn="ctr">
                      <a:solidFill>
                        <a:srgbClr val="C9D3EA"/>
                      </a:solidFill>
                      <a:prstDash val="solid"/>
                      <a:round/>
                      <a:headEnd type="none" w="med" len="med"/>
                      <a:tailEnd type="none" w="med" len="med"/>
                    </a:lnR>
                    <a:lnT w="9525" cap="flat" cmpd="sng" algn="ctr">
                      <a:solidFill>
                        <a:srgbClr val="C9D3EA"/>
                      </a:solidFill>
                      <a:prstDash val="solid"/>
                      <a:round/>
                      <a:headEnd type="none" w="med" len="med"/>
                      <a:tailEnd type="none" w="med" len="med"/>
                    </a:lnT>
                    <a:lnB w="9525" cap="flat" cmpd="sng" algn="ctr">
                      <a:solidFill>
                        <a:srgbClr val="C9D3EA"/>
                      </a:solidFill>
                      <a:prstDash val="solid"/>
                      <a:round/>
                      <a:headEnd type="none" w="med" len="med"/>
                      <a:tailEnd type="none" w="med" len="med"/>
                    </a:lnB>
                    <a:solidFill>
                      <a:srgbClr val="0B1736"/>
                    </a:solidFill>
                  </a:tcPr>
                </a:tc>
              </a:tr>
              <a:tr h="566928">
                <a:tc>
                  <a:txBody>
                    <a:bodyPr/>
                    <a:lstStyle/>
                    <a:p>
                      <a:pPr indent="0" marL="0">
                        <a:buNone/>
                      </a:pPr>
                      <a:r>
                        <a:rPr lang="en-US" sz="1400" dirty="0">
                          <a:solidFill>
                            <a:srgbClr val="0B1736"/>
                          </a:solidFill>
                        </a:rPr>
                        <a:t>The box never appeared in Chrome's Bluetooth list</a:t>
                      </a:r>
                      <a:endParaRPr lang="en-US" sz="1400" dirty="0"/>
                    </a:p>
                  </a:txBody>
                  <a:tcPr marL="137160" marR="137160" marT="54864" marB="54864" anchor="ctr">
                    <a:lnL w="9525" cap="flat" cmpd="sng" algn="ctr">
                      <a:solidFill>
                        <a:srgbClr val="C9D3EA"/>
                      </a:solidFill>
                      <a:prstDash val="solid"/>
                      <a:round/>
                      <a:headEnd type="none" w="med" len="med"/>
                      <a:tailEnd type="none" w="med" len="med"/>
                    </a:lnL>
                    <a:lnR w="9525" cap="flat" cmpd="sng" algn="ctr">
                      <a:solidFill>
                        <a:srgbClr val="C9D3EA"/>
                      </a:solidFill>
                      <a:prstDash val="solid"/>
                      <a:round/>
                      <a:headEnd type="none" w="med" len="med"/>
                      <a:tailEnd type="none" w="med" len="med"/>
                    </a:lnR>
                    <a:lnT w="9525" cap="flat" cmpd="sng" algn="ctr">
                      <a:solidFill>
                        <a:srgbClr val="C9D3EA"/>
                      </a:solidFill>
                      <a:prstDash val="solid"/>
                      <a:round/>
                      <a:headEnd type="none" w="med" len="med"/>
                      <a:tailEnd type="none" w="med" len="med"/>
                    </a:lnT>
                    <a:lnB w="9525" cap="flat" cmpd="sng" algn="ctr">
                      <a:solidFill>
                        <a:srgbClr val="C9D3EA"/>
                      </a:solidFill>
                      <a:prstDash val="solid"/>
                      <a:round/>
                      <a:headEnd type="none" w="med" len="med"/>
                      <a:tailEnd type="none" w="med" len="med"/>
                    </a:lnB>
                    <a:solidFill>
                      <a:srgbClr val="EEF3FF"/>
                    </a:solidFill>
                  </a:tcPr>
                </a:tc>
                <a:tc>
                  <a:txBody>
                    <a:bodyPr/>
                    <a:lstStyle/>
                    <a:p>
                      <a:pPr indent="0" marL="0">
                        <a:buNone/>
                      </a:pPr>
                      <a:r>
                        <a:rPr lang="en-US" sz="1400" dirty="0">
                          <a:solidFill>
                            <a:srgbClr val="0B1736"/>
                          </a:solidFill>
                        </a:rPr>
                        <a:t>Advertise the service ID, with a name filter as fallback</a:t>
                      </a:r>
                      <a:endParaRPr lang="en-US" sz="1400" dirty="0"/>
                    </a:p>
                  </a:txBody>
                  <a:tcPr marL="137160" marR="137160" marT="54864" marB="54864" anchor="ctr">
                    <a:lnL w="9525" cap="flat" cmpd="sng" algn="ctr">
                      <a:solidFill>
                        <a:srgbClr val="C9D3EA"/>
                      </a:solidFill>
                      <a:prstDash val="solid"/>
                      <a:round/>
                      <a:headEnd type="none" w="med" len="med"/>
                      <a:tailEnd type="none" w="med" len="med"/>
                    </a:lnL>
                    <a:lnR w="9525" cap="flat" cmpd="sng" algn="ctr">
                      <a:solidFill>
                        <a:srgbClr val="C9D3EA"/>
                      </a:solidFill>
                      <a:prstDash val="solid"/>
                      <a:round/>
                      <a:headEnd type="none" w="med" len="med"/>
                      <a:tailEnd type="none" w="med" len="med"/>
                    </a:lnR>
                    <a:lnT w="9525" cap="flat" cmpd="sng" algn="ctr">
                      <a:solidFill>
                        <a:srgbClr val="C9D3EA"/>
                      </a:solidFill>
                      <a:prstDash val="solid"/>
                      <a:round/>
                      <a:headEnd type="none" w="med" len="med"/>
                      <a:tailEnd type="none" w="med" len="med"/>
                    </a:lnT>
                    <a:lnB w="9525" cap="flat" cmpd="sng" algn="ctr">
                      <a:solidFill>
                        <a:srgbClr val="C9D3EA"/>
                      </a:solidFill>
                      <a:prstDash val="solid"/>
                      <a:round/>
                      <a:headEnd type="none" w="med" len="med"/>
                      <a:tailEnd type="none" w="med" len="med"/>
                    </a:lnB>
                    <a:solidFill>
                      <a:srgbClr val="EEF3FF"/>
                    </a:solidFill>
                  </a:tcPr>
                </a:tc>
              </a:tr>
              <a:tr h="566928">
                <a:tc>
                  <a:txBody>
                    <a:bodyPr/>
                    <a:lstStyle/>
                    <a:p>
                      <a:pPr indent="0" marL="0">
                        <a:buNone/>
                      </a:pPr>
                      <a:r>
                        <a:rPr lang="en-US" sz="1400" dirty="0">
                          <a:solidFill>
                            <a:srgbClr val="0B1736"/>
                          </a:solidFill>
                        </a:rPr>
                        <a:t>The phone app was only a monitor</a:t>
                      </a:r>
                      <a:endParaRPr lang="en-US" sz="1400" dirty="0"/>
                    </a:p>
                  </a:txBody>
                  <a:tcPr marL="137160" marR="137160" marT="54864" marB="54864" anchor="ctr">
                    <a:lnL w="9525" cap="flat" cmpd="sng" algn="ctr">
                      <a:solidFill>
                        <a:srgbClr val="C9D3EA"/>
                      </a:solidFill>
                      <a:prstDash val="solid"/>
                      <a:round/>
                      <a:headEnd type="none" w="med" len="med"/>
                      <a:tailEnd type="none" w="med" len="med"/>
                    </a:lnL>
                    <a:lnR w="9525" cap="flat" cmpd="sng" algn="ctr">
                      <a:solidFill>
                        <a:srgbClr val="C9D3EA"/>
                      </a:solidFill>
                      <a:prstDash val="solid"/>
                      <a:round/>
                      <a:headEnd type="none" w="med" len="med"/>
                      <a:tailEnd type="none" w="med" len="med"/>
                    </a:lnR>
                    <a:lnT w="9525" cap="flat" cmpd="sng" algn="ctr">
                      <a:solidFill>
                        <a:srgbClr val="C9D3EA"/>
                      </a:solidFill>
                      <a:prstDash val="solid"/>
                      <a:round/>
                      <a:headEnd type="none" w="med" len="med"/>
                      <a:tailEnd type="none" w="med" len="med"/>
                    </a:lnT>
                    <a:lnB w="9525" cap="flat" cmpd="sng" algn="ctr">
                      <a:solidFill>
                        <a:srgbClr val="C9D3EA"/>
                      </a:solidFill>
                      <a:prstDash val="solid"/>
                      <a:round/>
                      <a:headEnd type="none" w="med" len="med"/>
                      <a:tailEnd type="none" w="med" len="med"/>
                    </a:lnB>
                    <a:solidFill>
                      <a:srgbClr val="FFFFFF"/>
                    </a:solidFill>
                  </a:tcPr>
                </a:tc>
                <a:tc>
                  <a:txBody>
                    <a:bodyPr/>
                    <a:lstStyle/>
                    <a:p>
                      <a:pPr indent="0" marL="0">
                        <a:buNone/>
                      </a:pPr>
                      <a:r>
                        <a:rPr lang="en-US" sz="1400" dirty="0">
                          <a:solidFill>
                            <a:srgbClr val="0B1736"/>
                          </a:solidFill>
                        </a:rPr>
                        <a:t>Multi-product step with the AI load check, plus an AI panel with explanations</a:t>
                      </a:r>
                      <a:endParaRPr lang="en-US" sz="1400" dirty="0"/>
                    </a:p>
                  </a:txBody>
                  <a:tcPr marL="137160" marR="137160" marT="54864" marB="54864" anchor="ctr">
                    <a:lnL w="9525" cap="flat" cmpd="sng" algn="ctr">
                      <a:solidFill>
                        <a:srgbClr val="C9D3EA"/>
                      </a:solidFill>
                      <a:prstDash val="solid"/>
                      <a:round/>
                      <a:headEnd type="none" w="med" len="med"/>
                      <a:tailEnd type="none" w="med" len="med"/>
                    </a:lnL>
                    <a:lnR w="9525" cap="flat" cmpd="sng" algn="ctr">
                      <a:solidFill>
                        <a:srgbClr val="C9D3EA"/>
                      </a:solidFill>
                      <a:prstDash val="solid"/>
                      <a:round/>
                      <a:headEnd type="none" w="med" len="med"/>
                      <a:tailEnd type="none" w="med" len="med"/>
                    </a:lnR>
                    <a:lnT w="9525" cap="flat" cmpd="sng" algn="ctr">
                      <a:solidFill>
                        <a:srgbClr val="C9D3EA"/>
                      </a:solidFill>
                      <a:prstDash val="solid"/>
                      <a:round/>
                      <a:headEnd type="none" w="med" len="med"/>
                      <a:tailEnd type="none" w="med" len="med"/>
                    </a:lnT>
                    <a:lnB w="9525" cap="flat" cmpd="sng" algn="ctr">
                      <a:solidFill>
                        <a:srgbClr val="C9D3EA"/>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0B1736"/>
                          </a:solidFill>
                        </a:rPr>
                        <a:t>Admin panel dead when opened from another device</a:t>
                      </a:r>
                      <a:endParaRPr lang="en-US" sz="1400" dirty="0"/>
                    </a:p>
                  </a:txBody>
                  <a:tcPr marL="137160" marR="137160" marT="54864" marB="54864" anchor="ctr">
                    <a:lnL w="9525" cap="flat" cmpd="sng" algn="ctr">
                      <a:solidFill>
                        <a:srgbClr val="C9D3EA"/>
                      </a:solidFill>
                      <a:prstDash val="solid"/>
                      <a:round/>
                      <a:headEnd type="none" w="med" len="med"/>
                      <a:tailEnd type="none" w="med" len="med"/>
                    </a:lnL>
                    <a:lnR w="9525" cap="flat" cmpd="sng" algn="ctr">
                      <a:solidFill>
                        <a:srgbClr val="C9D3EA"/>
                      </a:solidFill>
                      <a:prstDash val="solid"/>
                      <a:round/>
                      <a:headEnd type="none" w="med" len="med"/>
                      <a:tailEnd type="none" w="med" len="med"/>
                    </a:lnR>
                    <a:lnT w="9525" cap="flat" cmpd="sng" algn="ctr">
                      <a:solidFill>
                        <a:srgbClr val="C9D3EA"/>
                      </a:solidFill>
                      <a:prstDash val="solid"/>
                      <a:round/>
                      <a:headEnd type="none" w="med" len="med"/>
                      <a:tailEnd type="none" w="med" len="med"/>
                    </a:lnT>
                    <a:lnB w="9525" cap="flat" cmpd="sng" algn="ctr">
                      <a:solidFill>
                        <a:srgbClr val="C9D3EA"/>
                      </a:solidFill>
                      <a:prstDash val="solid"/>
                      <a:round/>
                      <a:headEnd type="none" w="med" len="med"/>
                      <a:tailEnd type="none" w="med" len="med"/>
                    </a:lnB>
                    <a:solidFill>
                      <a:srgbClr val="EEF3FF"/>
                    </a:solidFill>
                  </a:tcPr>
                </a:tc>
                <a:tc>
                  <a:txBody>
                    <a:bodyPr/>
                    <a:lstStyle/>
                    <a:p>
                      <a:pPr indent="0" marL="0">
                        <a:buNone/>
                      </a:pPr>
                      <a:r>
                        <a:rPr lang="en-US" sz="1400" dirty="0">
                          <a:solidFill>
                            <a:srgbClr val="0B1736"/>
                          </a:solidFill>
                        </a:rPr>
                        <a:t>Allow the laptop's current addresses; API follows the page host</a:t>
                      </a:r>
                      <a:endParaRPr lang="en-US" sz="1400" dirty="0"/>
                    </a:p>
                  </a:txBody>
                  <a:tcPr marL="137160" marR="137160" marT="54864" marB="54864" anchor="ctr">
                    <a:lnL w="9525" cap="flat" cmpd="sng" algn="ctr">
                      <a:solidFill>
                        <a:srgbClr val="C9D3EA"/>
                      </a:solidFill>
                      <a:prstDash val="solid"/>
                      <a:round/>
                      <a:headEnd type="none" w="med" len="med"/>
                      <a:tailEnd type="none" w="med" len="med"/>
                    </a:lnL>
                    <a:lnR w="9525" cap="flat" cmpd="sng" algn="ctr">
                      <a:solidFill>
                        <a:srgbClr val="C9D3EA"/>
                      </a:solidFill>
                      <a:prstDash val="solid"/>
                      <a:round/>
                      <a:headEnd type="none" w="med" len="med"/>
                      <a:tailEnd type="none" w="med" len="med"/>
                    </a:lnR>
                    <a:lnT w="9525" cap="flat" cmpd="sng" algn="ctr">
                      <a:solidFill>
                        <a:srgbClr val="C9D3EA"/>
                      </a:solidFill>
                      <a:prstDash val="solid"/>
                      <a:round/>
                      <a:headEnd type="none" w="med" len="med"/>
                      <a:tailEnd type="none" w="med" len="med"/>
                    </a:lnT>
                    <a:lnB w="9525" cap="flat" cmpd="sng" algn="ctr">
                      <a:solidFill>
                        <a:srgbClr val="C9D3EA"/>
                      </a:solidFill>
                      <a:prstDash val="solid"/>
                      <a:round/>
                      <a:headEnd type="none" w="med" len="med"/>
                      <a:tailEnd type="none" w="med" len="med"/>
                    </a:lnB>
                    <a:solidFill>
                      <a:srgbClr val="EEF3FF"/>
                    </a:solidFill>
                  </a:tcPr>
                </a:tc>
              </a:tr>
              <a:tr h="566928">
                <a:tc>
                  <a:txBody>
                    <a:bodyPr/>
                    <a:lstStyle/>
                    <a:p>
                      <a:pPr indent="0" marL="0">
                        <a:buNone/>
                      </a:pPr>
                      <a:r>
                        <a:rPr lang="en-US" sz="1400" dirty="0">
                          <a:solidFill>
                            <a:srgbClr val="0B1736"/>
                          </a:solidFill>
                        </a:rPr>
                        <a:t>A new Wi-Fi network broke the hard-coded IP</a:t>
                      </a:r>
                      <a:endParaRPr lang="en-US" sz="1400" dirty="0"/>
                    </a:p>
                  </a:txBody>
                  <a:tcPr marL="137160" marR="137160" marT="54864" marB="54864" anchor="ctr">
                    <a:lnL w="9525" cap="flat" cmpd="sng" algn="ctr">
                      <a:solidFill>
                        <a:srgbClr val="C9D3EA"/>
                      </a:solidFill>
                      <a:prstDash val="solid"/>
                      <a:round/>
                      <a:headEnd type="none" w="med" len="med"/>
                      <a:tailEnd type="none" w="med" len="med"/>
                    </a:lnL>
                    <a:lnR w="9525" cap="flat" cmpd="sng" algn="ctr">
                      <a:solidFill>
                        <a:srgbClr val="C9D3EA"/>
                      </a:solidFill>
                      <a:prstDash val="solid"/>
                      <a:round/>
                      <a:headEnd type="none" w="med" len="med"/>
                      <a:tailEnd type="none" w="med" len="med"/>
                    </a:lnR>
                    <a:lnT w="9525" cap="flat" cmpd="sng" algn="ctr">
                      <a:solidFill>
                        <a:srgbClr val="C9D3EA"/>
                      </a:solidFill>
                      <a:prstDash val="solid"/>
                      <a:round/>
                      <a:headEnd type="none" w="med" len="med"/>
                      <a:tailEnd type="none" w="med" len="med"/>
                    </a:lnT>
                    <a:lnB w="9525" cap="flat" cmpd="sng" algn="ctr">
                      <a:solidFill>
                        <a:srgbClr val="C9D3EA"/>
                      </a:solidFill>
                      <a:prstDash val="solid"/>
                      <a:round/>
                      <a:headEnd type="none" w="med" len="med"/>
                      <a:tailEnd type="none" w="med" len="med"/>
                    </a:lnB>
                    <a:solidFill>
                      <a:srgbClr val="FFFFFF"/>
                    </a:solidFill>
                  </a:tcPr>
                </a:tc>
                <a:tc>
                  <a:txBody>
                    <a:bodyPr/>
                    <a:lstStyle/>
                    <a:p>
                      <a:pPr indent="0" marL="0">
                        <a:buNone/>
                      </a:pPr>
                      <a:r>
                        <a:rPr lang="en-US" sz="1400" dirty="0">
                          <a:solidFill>
                            <a:srgbClr val="0B1736"/>
                          </a:solidFill>
                        </a:rPr>
                        <a:t>No-IP-lock design, certificate reused while valid</a:t>
                      </a:r>
                      <a:endParaRPr lang="en-US" sz="1400" dirty="0"/>
                    </a:p>
                  </a:txBody>
                  <a:tcPr marL="137160" marR="137160" marT="54864" marB="54864" anchor="ctr">
                    <a:lnL w="9525" cap="flat" cmpd="sng" algn="ctr">
                      <a:solidFill>
                        <a:srgbClr val="C9D3EA"/>
                      </a:solidFill>
                      <a:prstDash val="solid"/>
                      <a:round/>
                      <a:headEnd type="none" w="med" len="med"/>
                      <a:tailEnd type="none" w="med" len="med"/>
                    </a:lnL>
                    <a:lnR w="9525" cap="flat" cmpd="sng" algn="ctr">
                      <a:solidFill>
                        <a:srgbClr val="C9D3EA"/>
                      </a:solidFill>
                      <a:prstDash val="solid"/>
                      <a:round/>
                      <a:headEnd type="none" w="med" len="med"/>
                      <a:tailEnd type="none" w="med" len="med"/>
                    </a:lnR>
                    <a:lnT w="9525" cap="flat" cmpd="sng" algn="ctr">
                      <a:solidFill>
                        <a:srgbClr val="C9D3EA"/>
                      </a:solidFill>
                      <a:prstDash val="solid"/>
                      <a:round/>
                      <a:headEnd type="none" w="med" len="med"/>
                      <a:tailEnd type="none" w="med" len="med"/>
                    </a:lnT>
                    <a:lnB w="9525" cap="flat" cmpd="sng" algn="ctr">
                      <a:solidFill>
                        <a:srgbClr val="C9D3EA"/>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0B1736"/>
                          </a:solidFill>
                        </a:rPr>
                        <a:t>Alert times 5.5 hours off on the phone</a:t>
                      </a:r>
                      <a:endParaRPr lang="en-US" sz="1400" dirty="0"/>
                    </a:p>
                  </a:txBody>
                  <a:tcPr marL="137160" marR="137160" marT="54864" marB="54864" anchor="ctr">
                    <a:lnL w="9525" cap="flat" cmpd="sng" algn="ctr">
                      <a:solidFill>
                        <a:srgbClr val="C9D3EA"/>
                      </a:solidFill>
                      <a:prstDash val="solid"/>
                      <a:round/>
                      <a:headEnd type="none" w="med" len="med"/>
                      <a:tailEnd type="none" w="med" len="med"/>
                    </a:lnL>
                    <a:lnR w="9525" cap="flat" cmpd="sng" algn="ctr">
                      <a:solidFill>
                        <a:srgbClr val="C9D3EA"/>
                      </a:solidFill>
                      <a:prstDash val="solid"/>
                      <a:round/>
                      <a:headEnd type="none" w="med" len="med"/>
                      <a:tailEnd type="none" w="med" len="med"/>
                    </a:lnR>
                    <a:lnT w="9525" cap="flat" cmpd="sng" algn="ctr">
                      <a:solidFill>
                        <a:srgbClr val="C9D3EA"/>
                      </a:solidFill>
                      <a:prstDash val="solid"/>
                      <a:round/>
                      <a:headEnd type="none" w="med" len="med"/>
                      <a:tailEnd type="none" w="med" len="med"/>
                    </a:lnT>
                    <a:lnB w="9525" cap="flat" cmpd="sng" algn="ctr">
                      <a:solidFill>
                        <a:srgbClr val="C9D3EA"/>
                      </a:solidFill>
                      <a:prstDash val="solid"/>
                      <a:round/>
                      <a:headEnd type="none" w="med" len="med"/>
                      <a:tailEnd type="none" w="med" len="med"/>
                    </a:lnB>
                    <a:solidFill>
                      <a:srgbClr val="EEF3FF"/>
                    </a:solidFill>
                  </a:tcPr>
                </a:tc>
                <a:tc>
                  <a:txBody>
                    <a:bodyPr/>
                    <a:lstStyle/>
                    <a:p>
                      <a:pPr indent="0" marL="0">
                        <a:buNone/>
                      </a:pPr>
                      <a:r>
                        <a:rPr lang="en-US" sz="1400" dirty="0">
                          <a:solidFill>
                            <a:srgbClr val="0B1736"/>
                          </a:solidFill>
                        </a:rPr>
                        <a:t>Server times parsed as UTC</a:t>
                      </a:r>
                      <a:endParaRPr lang="en-US" sz="1400" dirty="0"/>
                    </a:p>
                  </a:txBody>
                  <a:tcPr marL="137160" marR="137160" marT="54864" marB="54864" anchor="ctr">
                    <a:lnL w="9525" cap="flat" cmpd="sng" algn="ctr">
                      <a:solidFill>
                        <a:srgbClr val="C9D3EA"/>
                      </a:solidFill>
                      <a:prstDash val="solid"/>
                      <a:round/>
                      <a:headEnd type="none" w="med" len="med"/>
                      <a:tailEnd type="none" w="med" len="med"/>
                    </a:lnL>
                    <a:lnR w="9525" cap="flat" cmpd="sng" algn="ctr">
                      <a:solidFill>
                        <a:srgbClr val="C9D3EA"/>
                      </a:solidFill>
                      <a:prstDash val="solid"/>
                      <a:round/>
                      <a:headEnd type="none" w="med" len="med"/>
                      <a:tailEnd type="none" w="med" len="med"/>
                    </a:lnR>
                    <a:lnT w="9525" cap="flat" cmpd="sng" algn="ctr">
                      <a:solidFill>
                        <a:srgbClr val="C9D3EA"/>
                      </a:solidFill>
                      <a:prstDash val="solid"/>
                      <a:round/>
                      <a:headEnd type="none" w="med" len="med"/>
                      <a:tailEnd type="none" w="med" len="med"/>
                    </a:lnT>
                    <a:lnB w="9525" cap="flat" cmpd="sng" algn="ctr">
                      <a:solidFill>
                        <a:srgbClr val="C9D3EA"/>
                      </a:solidFill>
                      <a:prstDash val="solid"/>
                      <a:round/>
                      <a:headEnd type="none" w="med" len="med"/>
                      <a:tailEnd type="none" w="med" len="med"/>
                    </a:lnB>
                    <a:solidFill>
                      <a:srgbClr val="EEF3FF"/>
                    </a:solidFill>
                  </a:tcPr>
                </a:tc>
              </a:tr>
              <a:tr h="566928">
                <a:tc>
                  <a:txBody>
                    <a:bodyPr/>
                    <a:lstStyle/>
                    <a:p>
                      <a:pPr indent="0" marL="0">
                        <a:buNone/>
                      </a:pPr>
                      <a:r>
                        <a:rPr lang="en-US" sz="1400" dirty="0">
                          <a:solidFill>
                            <a:srgbClr val="0B1736"/>
                          </a:solidFill>
                        </a:rPr>
                        <a:t>Strip flickered between animations; alarms with no phone</a:t>
                      </a:r>
                      <a:endParaRPr lang="en-US" sz="1400" dirty="0"/>
                    </a:p>
                  </a:txBody>
                  <a:tcPr marL="137160" marR="137160" marT="54864" marB="54864" anchor="ctr">
                    <a:lnL w="9525" cap="flat" cmpd="sng" algn="ctr">
                      <a:solidFill>
                        <a:srgbClr val="C9D3EA"/>
                      </a:solidFill>
                      <a:prstDash val="solid"/>
                      <a:round/>
                      <a:headEnd type="none" w="med" len="med"/>
                      <a:tailEnd type="none" w="med" len="med"/>
                    </a:lnL>
                    <a:lnR w="9525" cap="flat" cmpd="sng" algn="ctr">
                      <a:solidFill>
                        <a:srgbClr val="C9D3EA"/>
                      </a:solidFill>
                      <a:prstDash val="solid"/>
                      <a:round/>
                      <a:headEnd type="none" w="med" len="med"/>
                      <a:tailEnd type="none" w="med" len="med"/>
                    </a:lnR>
                    <a:lnT w="9525" cap="flat" cmpd="sng" algn="ctr">
                      <a:solidFill>
                        <a:srgbClr val="C9D3EA"/>
                      </a:solidFill>
                      <a:prstDash val="solid"/>
                      <a:round/>
                      <a:headEnd type="none" w="med" len="med"/>
                      <a:tailEnd type="none" w="med" len="med"/>
                    </a:lnT>
                    <a:lnB w="9525" cap="flat" cmpd="sng" algn="ctr">
                      <a:solidFill>
                        <a:srgbClr val="C9D3EA"/>
                      </a:solidFill>
                      <a:prstDash val="solid"/>
                      <a:round/>
                      <a:headEnd type="none" w="med" len="med"/>
                      <a:tailEnd type="none" w="med" len="med"/>
                    </a:lnB>
                    <a:solidFill>
                      <a:srgbClr val="FFFFFF"/>
                    </a:solidFill>
                  </a:tcPr>
                </a:tc>
                <a:tc>
                  <a:txBody>
                    <a:bodyPr/>
                    <a:lstStyle/>
                    <a:p>
                      <a:pPr indent="0" marL="0">
                        <a:buNone/>
                      </a:pPr>
                      <a:r>
                        <a:rPr lang="en-US" sz="1400" dirty="0">
                          <a:solidFill>
                            <a:srgbClr val="0B1736"/>
                          </a:solidFill>
                        </a:rPr>
                        <a:t>Workflow engine: one look at a time, problems only while live</a:t>
                      </a:r>
                      <a:endParaRPr lang="en-US" sz="1400" dirty="0"/>
                    </a:p>
                  </a:txBody>
                  <a:tcPr marL="137160" marR="137160" marT="54864" marB="54864" anchor="ctr">
                    <a:lnL w="9525" cap="flat" cmpd="sng" algn="ctr">
                      <a:solidFill>
                        <a:srgbClr val="C9D3EA"/>
                      </a:solidFill>
                      <a:prstDash val="solid"/>
                      <a:round/>
                      <a:headEnd type="none" w="med" len="med"/>
                      <a:tailEnd type="none" w="med" len="med"/>
                    </a:lnL>
                    <a:lnR w="9525" cap="flat" cmpd="sng" algn="ctr">
                      <a:solidFill>
                        <a:srgbClr val="C9D3EA"/>
                      </a:solidFill>
                      <a:prstDash val="solid"/>
                      <a:round/>
                      <a:headEnd type="none" w="med" len="med"/>
                      <a:tailEnd type="none" w="med" len="med"/>
                    </a:lnR>
                    <a:lnT w="9525" cap="flat" cmpd="sng" algn="ctr">
                      <a:solidFill>
                        <a:srgbClr val="C9D3EA"/>
                      </a:solidFill>
                      <a:prstDash val="solid"/>
                      <a:round/>
                      <a:headEnd type="none" w="med" len="med"/>
                      <a:tailEnd type="none" w="med" len="med"/>
                    </a:lnT>
                    <a:lnB w="9525" cap="flat" cmpd="sng" algn="ctr">
                      <a:solidFill>
                        <a:srgbClr val="C9D3EA"/>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806440"/>
            <a:ext cx="11064240" cy="365760"/>
          </a:xfrm>
          <a:prstGeom prst="rect">
            <a:avLst/>
          </a:prstGeom>
          <a:noFill/>
          <a:ln/>
        </p:spPr>
        <p:txBody>
          <a:bodyPr wrap="square" lIns="0" tIns="0" rIns="0" bIns="0" rtlCol="0" anchor="t"/>
          <a:lstStyle/>
          <a:p>
            <a:pPr indent="0" marL="0">
              <a:buNone/>
            </a:pPr>
            <a:r>
              <a:rPr lang="en-US" sz="1400" i="1" dirty="0">
                <a:solidFill>
                  <a:schemeClr val="tx2"/>
                </a:solidFill>
                <a:latin typeface="Calibri" pitchFamily="34" charset="0"/>
                <a:ea typeface="Calibri" pitchFamily="34" charset="-122"/>
                <a:cs typeface="Calibri" pitchFamily="34" charset="-120"/>
              </a:rPr>
              <a:t>Each fix is in the code and documented. The full list is in Section 11.3 of the documentation.</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8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libri" pitchFamily="34" charset="0"/>
                <a:ea typeface="Calibri" pitchFamily="34" charset="-122"/>
                <a:cs typeface="Calibri" pitchFamily="34" charset="-120"/>
              </a:rPr>
              <a:t>Tested at every layer</a:t>
            </a:r>
            <a:endParaRPr lang="en-US" sz="3200" dirty="0"/>
          </a:p>
        </p:txBody>
      </p:sp>
      <p:sp>
        <p:nvSpPr>
          <p:cNvPr id="3" name="stat backend tests pass"/>
          <p:cNvSpPr/>
          <p:nvPr/>
        </p:nvSpPr>
        <p:spPr>
          <a:xfrm>
            <a:off x="548640" y="1325880"/>
            <a:ext cx="2606040" cy="1737360"/>
          </a:xfrm>
          <a:prstGeom prst="roundRect">
            <a:avLst>
              <a:gd name="adj" fmla="val 6316"/>
            </a:avLst>
          </a:prstGeom>
          <a:solidFill>
            <a:schemeClr val="bg2"/>
          </a:solidFill>
          <a:ln w="12700">
            <a:solidFill>
              <a:schemeClr val="bg2"/>
            </a:solidFill>
            <a:prstDash val="solid"/>
          </a:ln>
          <a:effectLst>
            <a:outerShdw sx="100000" sy="100000" kx="0" ky="0" algn="bl" rotWithShape="0" blurRad="101600" dist="25400" dir="5400000">
              <a:srgbClr val="0B1736">
                <a:alpha val="12000"/>
              </a:srgbClr>
            </a:outerShdw>
          </a:effectLst>
        </p:spPr>
      </p:sp>
      <p:sp>
        <p:nvSpPr>
          <p:cNvPr id="4" name="Text 2"/>
          <p:cNvSpPr txBox="1"/>
          <p:nvPr/>
        </p:nvSpPr>
        <p:spPr>
          <a:xfrm>
            <a:off x="777240" y="1463040"/>
            <a:ext cx="2194560" cy="868680"/>
          </a:xfrm>
          <a:prstGeom prst="rect">
            <a:avLst/>
          </a:prstGeom>
          <a:noFill/>
          <a:ln/>
        </p:spPr>
        <p:txBody>
          <a:bodyPr wrap="square" lIns="0" tIns="0" rIns="0" bIns="0" rtlCol="0" anchor="t"/>
          <a:lstStyle/>
          <a:p>
            <a:pPr indent="0" marL="0">
              <a:buNone/>
            </a:pPr>
            <a:r>
              <a:rPr lang="en-US" sz="4800" b="1" dirty="0">
                <a:solidFill>
                  <a:schemeClr val="accent1"/>
                </a:solidFill>
                <a:latin typeface="Calibri" pitchFamily="34" charset="0"/>
                <a:ea typeface="Calibri" pitchFamily="34" charset="-122"/>
                <a:cs typeface="Calibri" pitchFamily="34" charset="-120"/>
              </a:rPr>
              <a:t>72</a:t>
            </a:r>
            <a:endParaRPr lang="en-US" sz="4800" dirty="0"/>
          </a:p>
        </p:txBody>
      </p:sp>
      <p:sp>
        <p:nvSpPr>
          <p:cNvPr id="5" name="Text 3"/>
          <p:cNvSpPr txBox="1"/>
          <p:nvPr/>
        </p:nvSpPr>
        <p:spPr>
          <a:xfrm>
            <a:off x="777240" y="2331720"/>
            <a:ext cx="2194560" cy="59436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backend tests pass</a:t>
            </a:r>
            <a:endParaRPr lang="en-US" sz="1400" dirty="0"/>
          </a:p>
        </p:txBody>
      </p:sp>
      <p:sp>
        <p:nvSpPr>
          <p:cNvPr id="6" name="stat firmware compiler warnings"/>
          <p:cNvSpPr/>
          <p:nvPr/>
        </p:nvSpPr>
        <p:spPr>
          <a:xfrm>
            <a:off x="3383280" y="1325880"/>
            <a:ext cx="2606040" cy="1737360"/>
          </a:xfrm>
          <a:prstGeom prst="roundRect">
            <a:avLst>
              <a:gd name="adj" fmla="val 6316"/>
            </a:avLst>
          </a:prstGeom>
          <a:solidFill>
            <a:schemeClr val="bg2"/>
          </a:solidFill>
          <a:ln w="12700">
            <a:solidFill>
              <a:schemeClr val="bg2"/>
            </a:solidFill>
            <a:prstDash val="solid"/>
          </a:ln>
          <a:effectLst>
            <a:outerShdw sx="100000" sy="100000" kx="0" ky="0" algn="bl" rotWithShape="0" blurRad="101600" dist="25400" dir="5400000">
              <a:srgbClr val="0B1736">
                <a:alpha val="12000"/>
              </a:srgbClr>
            </a:outerShdw>
          </a:effectLst>
        </p:spPr>
      </p:sp>
      <p:sp>
        <p:nvSpPr>
          <p:cNvPr id="7" name="Text 5"/>
          <p:cNvSpPr txBox="1"/>
          <p:nvPr/>
        </p:nvSpPr>
        <p:spPr>
          <a:xfrm>
            <a:off x="3611880" y="1463040"/>
            <a:ext cx="2194560" cy="868680"/>
          </a:xfrm>
          <a:prstGeom prst="rect">
            <a:avLst/>
          </a:prstGeom>
          <a:noFill/>
          <a:ln/>
        </p:spPr>
        <p:txBody>
          <a:bodyPr wrap="square" lIns="0" tIns="0" rIns="0" bIns="0" rtlCol="0" anchor="t"/>
          <a:lstStyle/>
          <a:p>
            <a:pPr indent="0" marL="0">
              <a:buNone/>
            </a:pPr>
            <a:r>
              <a:rPr lang="en-US" sz="4800" b="1" dirty="0">
                <a:solidFill>
                  <a:schemeClr val="accent1"/>
                </a:solidFill>
                <a:latin typeface="Calibri" pitchFamily="34" charset="0"/>
                <a:ea typeface="Calibri" pitchFamily="34" charset="-122"/>
                <a:cs typeface="Calibri" pitchFamily="34" charset="-120"/>
              </a:rPr>
              <a:t>0</a:t>
            </a:r>
            <a:endParaRPr lang="en-US" sz="4800" dirty="0"/>
          </a:p>
        </p:txBody>
      </p:sp>
      <p:sp>
        <p:nvSpPr>
          <p:cNvPr id="8" name="Text 6"/>
          <p:cNvSpPr txBox="1"/>
          <p:nvPr/>
        </p:nvSpPr>
        <p:spPr>
          <a:xfrm>
            <a:off x="3611880" y="2331720"/>
            <a:ext cx="2194560" cy="59436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firmware compiler warnings</a:t>
            </a:r>
            <a:endParaRPr lang="en-US" sz="1400" dirty="0"/>
          </a:p>
        </p:txBody>
      </p:sp>
      <p:sp>
        <p:nvSpPr>
          <p:cNvPr id="9" name="stat web checks: lint, types, build"/>
          <p:cNvSpPr/>
          <p:nvPr/>
        </p:nvSpPr>
        <p:spPr>
          <a:xfrm>
            <a:off x="6217920" y="1325880"/>
            <a:ext cx="2606040" cy="1737360"/>
          </a:xfrm>
          <a:prstGeom prst="roundRect">
            <a:avLst>
              <a:gd name="adj" fmla="val 6316"/>
            </a:avLst>
          </a:prstGeom>
          <a:solidFill>
            <a:schemeClr val="bg2"/>
          </a:solidFill>
          <a:ln w="12700">
            <a:solidFill>
              <a:schemeClr val="bg2"/>
            </a:solidFill>
            <a:prstDash val="solid"/>
          </a:ln>
          <a:effectLst>
            <a:outerShdw sx="100000" sy="100000" kx="0" ky="0" algn="bl" rotWithShape="0" blurRad="101600" dist="25400" dir="5400000">
              <a:srgbClr val="0B1736">
                <a:alpha val="12000"/>
              </a:srgbClr>
            </a:outerShdw>
          </a:effectLst>
        </p:spPr>
      </p:sp>
      <p:sp>
        <p:nvSpPr>
          <p:cNvPr id="10" name="Text 8"/>
          <p:cNvSpPr txBox="1"/>
          <p:nvPr/>
        </p:nvSpPr>
        <p:spPr>
          <a:xfrm>
            <a:off x="6446520" y="1463040"/>
            <a:ext cx="2194560" cy="868680"/>
          </a:xfrm>
          <a:prstGeom prst="rect">
            <a:avLst/>
          </a:prstGeom>
          <a:noFill/>
          <a:ln/>
        </p:spPr>
        <p:txBody>
          <a:bodyPr wrap="square" lIns="0" tIns="0" rIns="0" bIns="0" rtlCol="0" anchor="t"/>
          <a:lstStyle/>
          <a:p>
            <a:pPr indent="0" marL="0">
              <a:buNone/>
            </a:pPr>
            <a:r>
              <a:rPr lang="en-US" sz="4800" b="1" dirty="0">
                <a:solidFill>
                  <a:schemeClr val="accent1"/>
                </a:solidFill>
                <a:latin typeface="Calibri" pitchFamily="34" charset="0"/>
                <a:ea typeface="Calibri" pitchFamily="34" charset="-122"/>
                <a:cs typeface="Calibri" pitchFamily="34" charset="-120"/>
              </a:rPr>
              <a:t>3/3</a:t>
            </a:r>
            <a:endParaRPr lang="en-US" sz="4800" dirty="0"/>
          </a:p>
        </p:txBody>
      </p:sp>
      <p:sp>
        <p:nvSpPr>
          <p:cNvPr id="11" name="Text 9"/>
          <p:cNvSpPr txBox="1"/>
          <p:nvPr/>
        </p:nvSpPr>
        <p:spPr>
          <a:xfrm>
            <a:off x="6446520" y="2331720"/>
            <a:ext cx="2194560" cy="59436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web checks: lint, types, build</a:t>
            </a:r>
            <a:endParaRPr lang="en-US" sz="1400" dirty="0"/>
          </a:p>
        </p:txBody>
      </p:sp>
      <p:sp>
        <p:nvSpPr>
          <p:cNvPr id="12" name="stat alert to AI explanation on the phone"/>
          <p:cNvSpPr/>
          <p:nvPr/>
        </p:nvSpPr>
        <p:spPr>
          <a:xfrm>
            <a:off x="9052560" y="1325880"/>
            <a:ext cx="2606040" cy="1737360"/>
          </a:xfrm>
          <a:prstGeom prst="roundRect">
            <a:avLst>
              <a:gd name="adj" fmla="val 6316"/>
            </a:avLst>
          </a:prstGeom>
          <a:solidFill>
            <a:schemeClr val="bg2"/>
          </a:solidFill>
          <a:ln w="12700">
            <a:solidFill>
              <a:schemeClr val="bg2"/>
            </a:solidFill>
            <a:prstDash val="solid"/>
          </a:ln>
          <a:effectLst>
            <a:outerShdw sx="100000" sy="100000" kx="0" ky="0" algn="bl" rotWithShape="0" blurRad="101600" dist="25400" dir="5400000">
              <a:srgbClr val="0B1736">
                <a:alpha val="12000"/>
              </a:srgbClr>
            </a:outerShdw>
          </a:effectLst>
        </p:spPr>
      </p:sp>
      <p:sp>
        <p:nvSpPr>
          <p:cNvPr id="13" name="Text 11"/>
          <p:cNvSpPr txBox="1"/>
          <p:nvPr/>
        </p:nvSpPr>
        <p:spPr>
          <a:xfrm>
            <a:off x="9281160" y="1463040"/>
            <a:ext cx="2194560" cy="868680"/>
          </a:xfrm>
          <a:prstGeom prst="rect">
            <a:avLst/>
          </a:prstGeom>
          <a:noFill/>
          <a:ln/>
        </p:spPr>
        <p:txBody>
          <a:bodyPr wrap="square" lIns="0" tIns="0" rIns="0" bIns="0" rtlCol="0" anchor="t"/>
          <a:lstStyle/>
          <a:p>
            <a:pPr indent="0" marL="0">
              <a:buNone/>
            </a:pPr>
            <a:r>
              <a:rPr lang="en-US" sz="4800" b="1" dirty="0">
                <a:solidFill>
                  <a:schemeClr val="accent1"/>
                </a:solidFill>
                <a:latin typeface="Calibri" pitchFamily="34" charset="0"/>
                <a:ea typeface="Calibri" pitchFamily="34" charset="-122"/>
                <a:cs typeface="Calibri" pitchFamily="34" charset="-120"/>
              </a:rPr>
              <a:t>7 s</a:t>
            </a:r>
            <a:endParaRPr lang="en-US" sz="4800" dirty="0"/>
          </a:p>
        </p:txBody>
      </p:sp>
      <p:sp>
        <p:nvSpPr>
          <p:cNvPr id="14" name="Text 12"/>
          <p:cNvSpPr txBox="1"/>
          <p:nvPr/>
        </p:nvSpPr>
        <p:spPr>
          <a:xfrm>
            <a:off x="9281160" y="2331720"/>
            <a:ext cx="2194560" cy="59436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alert to AI explanation on the phone</a:t>
            </a:r>
            <a:endParaRPr lang="en-US" sz="1400" dirty="0"/>
          </a:p>
        </p:txBody>
      </p:sp>
      <p:sp>
        <p:nvSpPr>
          <p:cNvPr id="15" name="hardware card"/>
          <p:cNvSpPr/>
          <p:nvPr/>
        </p:nvSpPr>
        <p:spPr>
          <a:xfrm>
            <a:off x="548640" y="3291840"/>
            <a:ext cx="5440680" cy="2834640"/>
          </a:xfrm>
          <a:prstGeom prst="roundRect">
            <a:avLst>
              <a:gd name="adj" fmla="val 3871"/>
            </a:avLst>
          </a:prstGeom>
          <a:solidFill>
            <a:schemeClr val="bg2"/>
          </a:solidFill>
          <a:ln w="12700">
            <a:solidFill>
              <a:schemeClr val="bg2"/>
            </a:solidFill>
            <a:prstDash val="solid"/>
          </a:ln>
          <a:effectLst>
            <a:outerShdw sx="100000" sy="100000" kx="0" ky="0" algn="bl" rotWithShape="0" blurRad="101600" dist="25400" dir="5400000">
              <a:srgbClr val="0B1736">
                <a:alpha val="12000"/>
              </a:srgbClr>
            </a:outerShdw>
          </a:effectLst>
        </p:spPr>
      </p:sp>
      <p:sp>
        <p:nvSpPr>
          <p:cNvPr id="16" name="icon circle FaMicrochip"/>
          <p:cNvSpPr/>
          <p:nvPr/>
        </p:nvSpPr>
        <p:spPr>
          <a:xfrm>
            <a:off x="777240" y="3520440"/>
            <a:ext cx="640080" cy="640080"/>
          </a:xfrm>
          <a:prstGeom prst="ellipse">
            <a:avLst/>
          </a:prstGeom>
          <a:solidFill>
            <a:schemeClr val="accent1"/>
          </a:solidFill>
          <a:ln w="12700">
            <a:solidFill>
              <a:schemeClr val="accent1"/>
            </a:solidFill>
            <a:prstDash val="solid"/>
          </a:ln>
        </p:spPr>
      </p:sp>
      <p:pic>
        <p:nvPicPr>
          <p:cNvPr id="17" name="Image 0" descr="FaMicrochip">    </p:cNvPr>
          <p:cNvPicPr>
            <a:picLocks noChangeAspect="1"/>
          </p:cNvPicPr>
          <p:nvPr/>
        </p:nvPicPr>
        <p:blipFill>
          <a:blip r:embed="rId1"/>
          <a:stretch>
            <a:fillRect/>
          </a:stretch>
        </p:blipFill>
        <p:spPr>
          <a:xfrm>
            <a:off x="930859" y="3674059"/>
            <a:ext cx="332842" cy="332842"/>
          </a:xfrm>
          <a:prstGeom prst="rect">
            <a:avLst/>
          </a:prstGeom>
        </p:spPr>
      </p:pic>
      <p:sp>
        <p:nvSpPr>
          <p:cNvPr id="18" name="Text 15"/>
          <p:cNvSpPr txBox="1"/>
          <p:nvPr/>
        </p:nvSpPr>
        <p:spPr>
          <a:xfrm>
            <a:off x="1600200" y="3566160"/>
            <a:ext cx="4206240" cy="45720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Verified on the real board</a:t>
            </a:r>
            <a:endParaRPr lang="en-US" sz="1800" dirty="0"/>
          </a:p>
        </p:txBody>
      </p:sp>
      <p:sp>
        <p:nvSpPr>
          <p:cNvPr id="19" name="Text 16"/>
          <p:cNvSpPr txBox="1"/>
          <p:nvPr/>
        </p:nvSpPr>
        <p:spPr>
          <a:xfrm>
            <a:off x="868680" y="4206240"/>
            <a:ext cx="4937760" cy="18288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DHT22 on D8: 24.5 °C, 38 % RH</a:t>
            </a:r>
            <a:endParaRPr lang="en-US" sz="1500" dirty="0"/>
          </a:p>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Reed switch on D4: open / closed</a:t>
            </a:r>
            <a:endParaRPr lang="en-US" sz="1500" dirty="0"/>
          </a:p>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11-LED strip on D3, GRB order</a:t>
            </a:r>
            <a:endParaRPr lang="en-US" sz="1500" dirty="0"/>
          </a:p>
          <a:p>
            <a:pPr marL="342900" indent="-342900">
              <a:spcAft>
                <a:spcPts val="600"/>
              </a:spcAft>
              <a:buSzPct val="100000"/>
              <a:buChar char="•"/>
            </a:pPr>
            <a:r>
              <a:rPr lang="en-US" sz="1500" dirty="0">
                <a:solidFill>
                  <a:schemeClr val="accent5"/>
                </a:solidFill>
                <a:latin typeface="Calibri" pitchFamily="34" charset="0"/>
                <a:ea typeface="Calibri" pitchFamily="34" charset="-122"/>
                <a:cs typeface="Calibri" pitchFamily="34" charset="-120"/>
              </a:rPr>
              <a:t>Still to verify: IR LED on D5, AC pairing</a:t>
            </a:r>
            <a:endParaRPr lang="en-US" sz="1500" dirty="0"/>
          </a:p>
        </p:txBody>
      </p:sp>
      <p:sp>
        <p:nvSpPr>
          <p:cNvPr id="20" name="e2e card"/>
          <p:cNvSpPr/>
          <p:nvPr/>
        </p:nvSpPr>
        <p:spPr>
          <a:xfrm>
            <a:off x="6172200" y="3291840"/>
            <a:ext cx="5440680" cy="2834640"/>
          </a:xfrm>
          <a:prstGeom prst="roundRect">
            <a:avLst>
              <a:gd name="adj" fmla="val 3871"/>
            </a:avLst>
          </a:prstGeom>
          <a:solidFill>
            <a:schemeClr val="bg2"/>
          </a:solidFill>
          <a:ln w="12700">
            <a:solidFill>
              <a:schemeClr val="bg2"/>
            </a:solidFill>
            <a:prstDash val="solid"/>
          </a:ln>
          <a:effectLst>
            <a:outerShdw sx="100000" sy="100000" kx="0" ky="0" algn="bl" rotWithShape="0" blurRad="101600" dist="25400" dir="5400000">
              <a:srgbClr val="0B1736">
                <a:alpha val="12000"/>
              </a:srgbClr>
            </a:outerShdw>
          </a:effectLst>
        </p:spPr>
      </p:sp>
      <p:sp>
        <p:nvSpPr>
          <p:cNvPr id="21" name="icon circle FaRoute"/>
          <p:cNvSpPr/>
          <p:nvPr/>
        </p:nvSpPr>
        <p:spPr>
          <a:xfrm>
            <a:off x="6400800" y="3520440"/>
            <a:ext cx="640080" cy="640080"/>
          </a:xfrm>
          <a:prstGeom prst="ellipse">
            <a:avLst/>
          </a:prstGeom>
          <a:solidFill>
            <a:schemeClr val="accent1"/>
          </a:solidFill>
          <a:ln w="12700">
            <a:solidFill>
              <a:schemeClr val="accent1"/>
            </a:solidFill>
            <a:prstDash val="solid"/>
          </a:ln>
        </p:spPr>
      </p:sp>
      <p:pic>
        <p:nvPicPr>
          <p:cNvPr id="22" name="Image 1" descr="FaRoute">    </p:cNvPr>
          <p:cNvPicPr>
            <a:picLocks noChangeAspect="1"/>
          </p:cNvPicPr>
          <p:nvPr/>
        </p:nvPicPr>
        <p:blipFill>
          <a:blip r:embed="rId2"/>
          <a:stretch>
            <a:fillRect/>
          </a:stretch>
        </p:blipFill>
        <p:spPr>
          <a:xfrm>
            <a:off x="6554419" y="3674059"/>
            <a:ext cx="332842" cy="332842"/>
          </a:xfrm>
          <a:prstGeom prst="rect">
            <a:avLst/>
          </a:prstGeom>
        </p:spPr>
      </p:pic>
      <p:sp>
        <p:nvSpPr>
          <p:cNvPr id="23" name="Text 19"/>
          <p:cNvSpPr txBox="1"/>
          <p:nvPr/>
        </p:nvSpPr>
        <p:spPr>
          <a:xfrm>
            <a:off x="7223760" y="3566160"/>
            <a:ext cx="4206240" cy="45720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End to end, with the real LLM</a:t>
            </a:r>
            <a:endParaRPr lang="en-US" sz="1800" dirty="0"/>
          </a:p>
        </p:txBody>
      </p:sp>
      <p:sp>
        <p:nvSpPr>
          <p:cNvPr id="24" name="Text 20"/>
          <p:cNvSpPr txBox="1"/>
          <p:nvPr/>
        </p:nvSpPr>
        <p:spPr>
          <a:xfrm>
            <a:off x="6492240" y="4206240"/>
            <a:ext cx="4937760" cy="18288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Apples, pears, lettuce, bananas split into 3 compartments</a:t>
            </a:r>
            <a:endParaRPr lang="en-US" sz="1500" dirty="0"/>
          </a:p>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Apples + bananas rejected, with reasons</a:t>
            </a:r>
            <a:endParaRPr lang="en-US" sz="1500" dirty="0"/>
          </a:p>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Apples + pears created at −0.9 °C (ML, guarded)</a:t>
            </a:r>
            <a:endParaRPr lang="en-US" sz="1500" dirty="0"/>
          </a:p>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Warm readings flagged against the setpoint</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8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libri" pitchFamily="34" charset="0"/>
                <a:ea typeface="Calibri" pitchFamily="34" charset="-122"/>
                <a:cs typeface="Calibri" pitchFamily="34" charset="-120"/>
              </a:rPr>
              <a:t>Live demonstration: ten minutes</a:t>
            </a:r>
            <a:endParaRPr lang="en-US" sz="3200" dirty="0"/>
          </a:p>
        </p:txBody>
      </p:sp>
      <p:sp>
        <p:nvSpPr>
          <p:cNvPr id="3" name="timeline"/>
          <p:cNvSpPr/>
          <p:nvPr/>
        </p:nvSpPr>
        <p:spPr>
          <a:xfrm>
            <a:off x="822960" y="2331720"/>
            <a:ext cx="10515600" cy="0"/>
          </a:xfrm>
          <a:prstGeom prst="line">
            <a:avLst/>
          </a:prstGeom>
          <a:noFill/>
          <a:ln w="38100">
            <a:solidFill>
              <a:schemeClr val="accent2"/>
            </a:solidFill>
            <a:prstDash val="solid"/>
          </a:ln>
        </p:spPr>
      </p:sp>
      <p:sp>
        <p:nvSpPr>
          <p:cNvPr id="4" name="milestone 1"/>
          <p:cNvSpPr/>
          <p:nvPr/>
        </p:nvSpPr>
        <p:spPr>
          <a:xfrm>
            <a:off x="621792" y="2130552"/>
            <a:ext cx="402336" cy="402336"/>
          </a:xfrm>
          <a:prstGeom prst="ellipse">
            <a:avLst/>
          </a:prstGeom>
          <a:solidFill>
            <a:schemeClr val="accent1"/>
          </a:solidFill>
          <a:ln w="25400">
            <a:solidFill>
              <a:schemeClr val="bg1"/>
            </a:solidFill>
            <a:prstDash val="solid"/>
          </a:ln>
        </p:spPr>
      </p:sp>
      <p:sp>
        <p:nvSpPr>
          <p:cNvPr id="5" name="Text 3"/>
          <p:cNvSpPr txBox="1"/>
          <p:nvPr/>
        </p:nvSpPr>
        <p:spPr>
          <a:xfrm>
            <a:off x="91440" y="1463040"/>
            <a:ext cx="1463040" cy="411480"/>
          </a:xfrm>
          <a:prstGeom prst="rect">
            <a:avLst/>
          </a:prstGeom>
          <a:noFill/>
          <a:ln/>
        </p:spPr>
        <p:txBody>
          <a:bodyPr wrap="square" lIns="0" tIns="0" rIns="0" bIns="0" rtlCol="0" anchor="t"/>
          <a:lstStyle/>
          <a:p>
            <a:pPr algn="ctr" indent="0" marL="0">
              <a:buNone/>
            </a:pPr>
            <a:r>
              <a:rPr lang="en-US" sz="1600" b="1" dirty="0">
                <a:solidFill>
                  <a:schemeClr val="accent1"/>
                </a:solidFill>
                <a:latin typeface="Calibri" pitchFamily="34" charset="0"/>
                <a:ea typeface="Calibri" pitchFamily="34" charset="-122"/>
                <a:cs typeface="Calibri" pitchFamily="34" charset="-120"/>
              </a:rPr>
              <a:t>0:00</a:t>
            </a:r>
            <a:endParaRPr lang="en-US" sz="1600" dirty="0"/>
          </a:p>
        </p:txBody>
      </p:sp>
      <p:sp>
        <p:nvSpPr>
          <p:cNvPr id="6" name="Text 4"/>
          <p:cNvSpPr txBox="1"/>
          <p:nvPr/>
        </p:nvSpPr>
        <p:spPr>
          <a:xfrm>
            <a:off x="73152" y="2743200"/>
            <a:ext cx="1499616" cy="640080"/>
          </a:xfrm>
          <a:prstGeom prst="rect">
            <a:avLst/>
          </a:prstGeom>
          <a:noFill/>
          <a:ln/>
        </p:spPr>
        <p:txBody>
          <a:bodyPr wrap="square" lIns="0" tIns="0" rIns="0" bIns="0" rtlCol="0" anchor="t"/>
          <a:lstStyle/>
          <a:p>
            <a:pPr algn="ctr" indent="0" marL="0">
              <a:buNone/>
            </a:pPr>
            <a:r>
              <a:rPr lang="en-US" sz="1500" b="1" dirty="0">
                <a:solidFill>
                  <a:schemeClr val="tx1"/>
                </a:solidFill>
                <a:latin typeface="Calibri" pitchFamily="34" charset="0"/>
                <a:ea typeface="Calibri" pitchFamily="34" charset="-122"/>
                <a:cs typeface="Calibri" pitchFamily="34" charset="-120"/>
              </a:rPr>
              <a:t>Power on</a:t>
            </a:r>
            <a:endParaRPr lang="en-US" sz="1500" dirty="0"/>
          </a:p>
        </p:txBody>
      </p:sp>
      <p:sp>
        <p:nvSpPr>
          <p:cNvPr id="7" name="Text 5"/>
          <p:cNvSpPr txBox="1"/>
          <p:nvPr/>
        </p:nvSpPr>
        <p:spPr>
          <a:xfrm>
            <a:off x="73152" y="3383280"/>
            <a:ext cx="1499616" cy="914400"/>
          </a:xfrm>
          <a:prstGeom prst="rect">
            <a:avLst/>
          </a:prstGeom>
          <a:noFill/>
          <a:ln/>
        </p:spPr>
        <p:txBody>
          <a:bodyPr wrap="square" lIns="0" tIns="0" rIns="0" bIns="0" rtlCol="0" anchor="t"/>
          <a:lstStyle/>
          <a:p>
            <a:pPr algn="ctr" indent="0" marL="0">
              <a:buNone/>
            </a:pPr>
            <a:r>
              <a:rPr lang="en-US" sz="1200" dirty="0">
                <a:solidFill>
                  <a:schemeClr val="tx2"/>
                </a:solidFill>
                <a:latin typeface="Calibri" pitchFamily="34" charset="0"/>
                <a:ea typeface="Calibri" pitchFamily="34" charset="-122"/>
                <a:cs typeface="Calibri" pitchFamily="34" charset="-120"/>
              </a:rPr>
              <a:t>Frost bloom, then the blue beacon</a:t>
            </a:r>
            <a:endParaRPr lang="en-US" sz="1200" dirty="0"/>
          </a:p>
        </p:txBody>
      </p:sp>
      <p:sp>
        <p:nvSpPr>
          <p:cNvPr id="8" name="milestone 2"/>
          <p:cNvSpPr/>
          <p:nvPr/>
        </p:nvSpPr>
        <p:spPr>
          <a:xfrm>
            <a:off x="2374392" y="2130552"/>
            <a:ext cx="402336" cy="402336"/>
          </a:xfrm>
          <a:prstGeom prst="ellipse">
            <a:avLst/>
          </a:prstGeom>
          <a:solidFill>
            <a:schemeClr val="accent1"/>
          </a:solidFill>
          <a:ln w="25400">
            <a:solidFill>
              <a:schemeClr val="bg1"/>
            </a:solidFill>
            <a:prstDash val="solid"/>
          </a:ln>
        </p:spPr>
      </p:sp>
      <p:sp>
        <p:nvSpPr>
          <p:cNvPr id="9" name="Text 7"/>
          <p:cNvSpPr txBox="1"/>
          <p:nvPr/>
        </p:nvSpPr>
        <p:spPr>
          <a:xfrm>
            <a:off x="1844040" y="1463040"/>
            <a:ext cx="1463040" cy="411480"/>
          </a:xfrm>
          <a:prstGeom prst="rect">
            <a:avLst/>
          </a:prstGeom>
          <a:noFill/>
          <a:ln/>
        </p:spPr>
        <p:txBody>
          <a:bodyPr wrap="square" lIns="0" tIns="0" rIns="0" bIns="0" rtlCol="0" anchor="t"/>
          <a:lstStyle/>
          <a:p>
            <a:pPr algn="ctr" indent="0" marL="0">
              <a:buNone/>
            </a:pPr>
            <a:r>
              <a:rPr lang="en-US" sz="1600" b="1" dirty="0">
                <a:solidFill>
                  <a:schemeClr val="accent1"/>
                </a:solidFill>
                <a:latin typeface="Calibri" pitchFamily="34" charset="0"/>
                <a:ea typeface="Calibri" pitchFamily="34" charset="-122"/>
                <a:cs typeface="Calibri" pitchFamily="34" charset="-120"/>
              </a:rPr>
              <a:t>1:00</a:t>
            </a:r>
            <a:endParaRPr lang="en-US" sz="1600" dirty="0"/>
          </a:p>
        </p:txBody>
      </p:sp>
      <p:sp>
        <p:nvSpPr>
          <p:cNvPr id="10" name="Text 8"/>
          <p:cNvSpPr txBox="1"/>
          <p:nvPr/>
        </p:nvSpPr>
        <p:spPr>
          <a:xfrm>
            <a:off x="1825752" y="2743200"/>
            <a:ext cx="1499616" cy="640080"/>
          </a:xfrm>
          <a:prstGeom prst="rect">
            <a:avLst/>
          </a:prstGeom>
          <a:noFill/>
          <a:ln/>
        </p:spPr>
        <p:txBody>
          <a:bodyPr wrap="square" lIns="0" tIns="0" rIns="0" bIns="0" rtlCol="0" anchor="t"/>
          <a:lstStyle/>
          <a:p>
            <a:pPr algn="ctr" indent="0" marL="0">
              <a:buNone/>
            </a:pPr>
            <a:r>
              <a:rPr lang="en-US" sz="1500" b="1" dirty="0">
                <a:solidFill>
                  <a:schemeClr val="tx1"/>
                </a:solidFill>
                <a:latin typeface="Calibri" pitchFamily="34" charset="0"/>
                <a:ea typeface="Calibri" pitchFamily="34" charset="-122"/>
                <a:cs typeface="Calibri" pitchFamily="34" charset="-120"/>
              </a:rPr>
              <a:t>Pair + register</a:t>
            </a:r>
            <a:endParaRPr lang="en-US" sz="1500" dirty="0"/>
          </a:p>
        </p:txBody>
      </p:sp>
      <p:sp>
        <p:nvSpPr>
          <p:cNvPr id="11" name="Text 9"/>
          <p:cNvSpPr txBox="1"/>
          <p:nvPr/>
        </p:nvSpPr>
        <p:spPr>
          <a:xfrm>
            <a:off x="1825752" y="3383280"/>
            <a:ext cx="1499616" cy="914400"/>
          </a:xfrm>
          <a:prstGeom prst="rect">
            <a:avLst/>
          </a:prstGeom>
          <a:noFill/>
          <a:ln/>
        </p:spPr>
        <p:txBody>
          <a:bodyPr wrap="square" lIns="0" tIns="0" rIns="0" bIns="0" rtlCol="0" anchor="t"/>
          <a:lstStyle/>
          <a:p>
            <a:pPr algn="ctr" indent="0" marL="0">
              <a:buNone/>
            </a:pPr>
            <a:r>
              <a:rPr lang="en-US" sz="1200" dirty="0">
                <a:solidFill>
                  <a:schemeClr val="tx2"/>
                </a:solidFill>
                <a:latin typeface="Calibri" pitchFamily="34" charset="0"/>
                <a:ea typeface="Calibri" pitchFamily="34" charset="-122"/>
                <a:cs typeface="Calibri" pitchFamily="34" charset="-120"/>
              </a:rPr>
              <a:t>Handshake on the strip</a:t>
            </a:r>
            <a:endParaRPr lang="en-US" sz="1200" dirty="0"/>
          </a:p>
        </p:txBody>
      </p:sp>
      <p:sp>
        <p:nvSpPr>
          <p:cNvPr id="12" name="milestone 3"/>
          <p:cNvSpPr/>
          <p:nvPr/>
        </p:nvSpPr>
        <p:spPr>
          <a:xfrm>
            <a:off x="4126992" y="2130552"/>
            <a:ext cx="402336" cy="402336"/>
          </a:xfrm>
          <a:prstGeom prst="ellipse">
            <a:avLst/>
          </a:prstGeom>
          <a:solidFill>
            <a:schemeClr val="accent1"/>
          </a:solidFill>
          <a:ln w="25400">
            <a:solidFill>
              <a:schemeClr val="bg1"/>
            </a:solidFill>
            <a:prstDash val="solid"/>
          </a:ln>
        </p:spPr>
      </p:sp>
      <p:sp>
        <p:nvSpPr>
          <p:cNvPr id="13" name="Text 11"/>
          <p:cNvSpPr txBox="1"/>
          <p:nvPr/>
        </p:nvSpPr>
        <p:spPr>
          <a:xfrm>
            <a:off x="3596640" y="1463040"/>
            <a:ext cx="1463040" cy="411480"/>
          </a:xfrm>
          <a:prstGeom prst="rect">
            <a:avLst/>
          </a:prstGeom>
          <a:noFill/>
          <a:ln/>
        </p:spPr>
        <p:txBody>
          <a:bodyPr wrap="square" lIns="0" tIns="0" rIns="0" bIns="0" rtlCol="0" anchor="t"/>
          <a:lstStyle/>
          <a:p>
            <a:pPr algn="ctr" indent="0" marL="0">
              <a:buNone/>
            </a:pPr>
            <a:r>
              <a:rPr lang="en-US" sz="1600" b="1" dirty="0">
                <a:solidFill>
                  <a:schemeClr val="accent1"/>
                </a:solidFill>
                <a:latin typeface="Calibri" pitchFamily="34" charset="0"/>
                <a:ea typeface="Calibri" pitchFamily="34" charset="-122"/>
                <a:cs typeface="Calibri" pitchFamily="34" charset="-120"/>
              </a:rPr>
              <a:t>2:00</a:t>
            </a:r>
            <a:endParaRPr lang="en-US" sz="1600" dirty="0"/>
          </a:p>
        </p:txBody>
      </p:sp>
      <p:sp>
        <p:nvSpPr>
          <p:cNvPr id="14" name="Text 12"/>
          <p:cNvSpPr txBox="1"/>
          <p:nvPr/>
        </p:nvSpPr>
        <p:spPr>
          <a:xfrm>
            <a:off x="3578352" y="2743200"/>
            <a:ext cx="1499616" cy="640080"/>
          </a:xfrm>
          <a:prstGeom prst="rect">
            <a:avLst/>
          </a:prstGeom>
          <a:noFill/>
          <a:ln/>
        </p:spPr>
        <p:txBody>
          <a:bodyPr wrap="square" lIns="0" tIns="0" rIns="0" bIns="0" rtlCol="0" anchor="t"/>
          <a:lstStyle/>
          <a:p>
            <a:pPr algn="ctr" indent="0" marL="0">
              <a:buNone/>
            </a:pPr>
            <a:r>
              <a:rPr lang="en-US" sz="1500" b="1" dirty="0">
                <a:solidFill>
                  <a:schemeClr val="tx1"/>
                </a:solidFill>
                <a:latin typeface="Calibri" pitchFamily="34" charset="0"/>
                <a:ea typeface="Calibri" pitchFamily="34" charset="-122"/>
                <a:cs typeface="Calibri" pitchFamily="34" charset="-120"/>
              </a:rPr>
              <a:t>AI load check</a:t>
            </a:r>
            <a:endParaRPr lang="en-US" sz="1500" dirty="0"/>
          </a:p>
        </p:txBody>
      </p:sp>
      <p:sp>
        <p:nvSpPr>
          <p:cNvPr id="15" name="Text 13"/>
          <p:cNvSpPr txBox="1"/>
          <p:nvPr/>
        </p:nvSpPr>
        <p:spPr>
          <a:xfrm>
            <a:off x="3578352" y="3383280"/>
            <a:ext cx="1499616" cy="914400"/>
          </a:xfrm>
          <a:prstGeom prst="rect">
            <a:avLst/>
          </a:prstGeom>
          <a:noFill/>
          <a:ln/>
        </p:spPr>
        <p:txBody>
          <a:bodyPr wrap="square" lIns="0" tIns="0" rIns="0" bIns="0" rtlCol="0" anchor="t"/>
          <a:lstStyle/>
          <a:p>
            <a:pPr algn="ctr" indent="0" marL="0">
              <a:buNone/>
            </a:pPr>
            <a:r>
              <a:rPr lang="en-US" sz="1200" dirty="0">
                <a:solidFill>
                  <a:schemeClr val="tx2"/>
                </a:solidFill>
                <a:latin typeface="Calibri" pitchFamily="34" charset="0"/>
                <a:ea typeface="Calibri" pitchFamily="34" charset="-122"/>
                <a:cs typeface="Calibri" pitchFamily="34" charset="-120"/>
              </a:rPr>
              <a:t>Apples, pears, lettuce, bananas</a:t>
            </a:r>
            <a:endParaRPr lang="en-US" sz="1200" dirty="0"/>
          </a:p>
        </p:txBody>
      </p:sp>
      <p:sp>
        <p:nvSpPr>
          <p:cNvPr id="16" name="milestone 4"/>
          <p:cNvSpPr/>
          <p:nvPr/>
        </p:nvSpPr>
        <p:spPr>
          <a:xfrm>
            <a:off x="5879592" y="2130552"/>
            <a:ext cx="402336" cy="402336"/>
          </a:xfrm>
          <a:prstGeom prst="ellipse">
            <a:avLst/>
          </a:prstGeom>
          <a:solidFill>
            <a:schemeClr val="accent1"/>
          </a:solidFill>
          <a:ln w="25400">
            <a:solidFill>
              <a:schemeClr val="bg1"/>
            </a:solidFill>
            <a:prstDash val="solid"/>
          </a:ln>
        </p:spPr>
      </p:sp>
      <p:sp>
        <p:nvSpPr>
          <p:cNvPr id="17" name="Text 15"/>
          <p:cNvSpPr txBox="1"/>
          <p:nvPr/>
        </p:nvSpPr>
        <p:spPr>
          <a:xfrm>
            <a:off x="5349240" y="1463040"/>
            <a:ext cx="1463040" cy="411480"/>
          </a:xfrm>
          <a:prstGeom prst="rect">
            <a:avLst/>
          </a:prstGeom>
          <a:noFill/>
          <a:ln/>
        </p:spPr>
        <p:txBody>
          <a:bodyPr wrap="square" lIns="0" tIns="0" rIns="0" bIns="0" rtlCol="0" anchor="t"/>
          <a:lstStyle/>
          <a:p>
            <a:pPr algn="ctr" indent="0" marL="0">
              <a:buNone/>
            </a:pPr>
            <a:r>
              <a:rPr lang="en-US" sz="1600" b="1" dirty="0">
                <a:solidFill>
                  <a:schemeClr val="accent1"/>
                </a:solidFill>
                <a:latin typeface="Calibri" pitchFamily="34" charset="0"/>
                <a:ea typeface="Calibri" pitchFamily="34" charset="-122"/>
                <a:cs typeface="Calibri" pitchFamily="34" charset="-120"/>
              </a:rPr>
              <a:t>4:00</a:t>
            </a:r>
            <a:endParaRPr lang="en-US" sz="1600" dirty="0"/>
          </a:p>
        </p:txBody>
      </p:sp>
      <p:sp>
        <p:nvSpPr>
          <p:cNvPr id="18" name="Text 16"/>
          <p:cNvSpPr txBox="1"/>
          <p:nvPr/>
        </p:nvSpPr>
        <p:spPr>
          <a:xfrm>
            <a:off x="5330952" y="2743200"/>
            <a:ext cx="1499616" cy="640080"/>
          </a:xfrm>
          <a:prstGeom prst="rect">
            <a:avLst/>
          </a:prstGeom>
          <a:noFill/>
          <a:ln/>
        </p:spPr>
        <p:txBody>
          <a:bodyPr wrap="square" lIns="0" tIns="0" rIns="0" bIns="0" rtlCol="0" anchor="t"/>
          <a:lstStyle/>
          <a:p>
            <a:pPr algn="ctr" indent="0" marL="0">
              <a:buNone/>
            </a:pPr>
            <a:r>
              <a:rPr lang="en-US" sz="1500" b="1" dirty="0">
                <a:solidFill>
                  <a:schemeClr val="tx1"/>
                </a:solidFill>
                <a:latin typeface="Calibri" pitchFamily="34" charset="0"/>
                <a:ea typeface="Calibri" pitchFamily="34" charset="-122"/>
                <a:cs typeface="Calibri" pitchFamily="34" charset="-120"/>
              </a:rPr>
              <a:t>Confirm data</a:t>
            </a:r>
            <a:endParaRPr lang="en-US" sz="1500" dirty="0"/>
          </a:p>
        </p:txBody>
      </p:sp>
      <p:sp>
        <p:nvSpPr>
          <p:cNvPr id="19" name="Text 17"/>
          <p:cNvSpPr txBox="1"/>
          <p:nvPr/>
        </p:nvSpPr>
        <p:spPr>
          <a:xfrm>
            <a:off x="5330952" y="3383280"/>
            <a:ext cx="1499616" cy="914400"/>
          </a:xfrm>
          <a:prstGeom prst="rect">
            <a:avLst/>
          </a:prstGeom>
          <a:noFill/>
          <a:ln/>
        </p:spPr>
        <p:txBody>
          <a:bodyPr wrap="square" lIns="0" tIns="0" rIns="0" bIns="0" rtlCol="0" anchor="t"/>
          <a:lstStyle/>
          <a:p>
            <a:pPr algn="ctr" indent="0" marL="0">
              <a:buNone/>
            </a:pPr>
            <a:r>
              <a:rPr lang="en-US" sz="1200" dirty="0">
                <a:solidFill>
                  <a:schemeClr val="tx2"/>
                </a:solidFill>
                <a:latin typeface="Calibri" pitchFamily="34" charset="0"/>
                <a:ea typeface="Calibri" pitchFamily="34" charset="-122"/>
                <a:cs typeface="Calibri" pitchFamily="34" charset="-120"/>
              </a:rPr>
              <a:t>Rainbow proves both directions</a:t>
            </a:r>
            <a:endParaRPr lang="en-US" sz="1200" dirty="0"/>
          </a:p>
        </p:txBody>
      </p:sp>
      <p:sp>
        <p:nvSpPr>
          <p:cNvPr id="20" name="milestone 5"/>
          <p:cNvSpPr/>
          <p:nvPr/>
        </p:nvSpPr>
        <p:spPr>
          <a:xfrm>
            <a:off x="7632192" y="2130552"/>
            <a:ext cx="402336" cy="402336"/>
          </a:xfrm>
          <a:prstGeom prst="ellipse">
            <a:avLst/>
          </a:prstGeom>
          <a:solidFill>
            <a:schemeClr val="accent1"/>
          </a:solidFill>
          <a:ln w="25400">
            <a:solidFill>
              <a:schemeClr val="bg1"/>
            </a:solidFill>
            <a:prstDash val="solid"/>
          </a:ln>
        </p:spPr>
      </p:sp>
      <p:sp>
        <p:nvSpPr>
          <p:cNvPr id="21" name="Text 19"/>
          <p:cNvSpPr txBox="1"/>
          <p:nvPr/>
        </p:nvSpPr>
        <p:spPr>
          <a:xfrm>
            <a:off x="7101840" y="1463040"/>
            <a:ext cx="1463040" cy="411480"/>
          </a:xfrm>
          <a:prstGeom prst="rect">
            <a:avLst/>
          </a:prstGeom>
          <a:noFill/>
          <a:ln/>
        </p:spPr>
        <p:txBody>
          <a:bodyPr wrap="square" lIns="0" tIns="0" rIns="0" bIns="0" rtlCol="0" anchor="t"/>
          <a:lstStyle/>
          <a:p>
            <a:pPr algn="ctr" indent="0" marL="0">
              <a:buNone/>
            </a:pPr>
            <a:r>
              <a:rPr lang="en-US" sz="1600" b="1" dirty="0">
                <a:solidFill>
                  <a:schemeClr val="accent1"/>
                </a:solidFill>
                <a:latin typeface="Calibri" pitchFamily="34" charset="0"/>
                <a:ea typeface="Calibri" pitchFamily="34" charset="-122"/>
                <a:cs typeface="Calibri" pitchFamily="34" charset="-120"/>
              </a:rPr>
              <a:t>5:00</a:t>
            </a:r>
            <a:endParaRPr lang="en-US" sz="1600" dirty="0"/>
          </a:p>
        </p:txBody>
      </p:sp>
      <p:sp>
        <p:nvSpPr>
          <p:cNvPr id="22" name="Text 20"/>
          <p:cNvSpPr txBox="1"/>
          <p:nvPr/>
        </p:nvSpPr>
        <p:spPr>
          <a:xfrm>
            <a:off x="7083552" y="2743200"/>
            <a:ext cx="1499616" cy="640080"/>
          </a:xfrm>
          <a:prstGeom prst="rect">
            <a:avLst/>
          </a:prstGeom>
          <a:noFill/>
          <a:ln/>
        </p:spPr>
        <p:txBody>
          <a:bodyPr wrap="square" lIns="0" tIns="0" rIns="0" bIns="0" rtlCol="0" anchor="t"/>
          <a:lstStyle/>
          <a:p>
            <a:pPr algn="ctr" indent="0" marL="0">
              <a:buNone/>
            </a:pPr>
            <a:r>
              <a:rPr lang="en-US" sz="1500" b="1" dirty="0">
                <a:solidFill>
                  <a:schemeClr val="tx1"/>
                </a:solidFill>
                <a:latin typeface="Calibri" pitchFamily="34" charset="0"/>
                <a:ea typeface="Calibri" pitchFamily="34" charset="-122"/>
                <a:cs typeface="Calibri" pitchFamily="34" charset="-120"/>
              </a:rPr>
              <a:t>Go live</a:t>
            </a:r>
            <a:endParaRPr lang="en-US" sz="1500" dirty="0"/>
          </a:p>
        </p:txBody>
      </p:sp>
      <p:sp>
        <p:nvSpPr>
          <p:cNvPr id="23" name="Text 21"/>
          <p:cNvSpPr txBox="1"/>
          <p:nvPr/>
        </p:nvSpPr>
        <p:spPr>
          <a:xfrm>
            <a:off x="7083552" y="3383280"/>
            <a:ext cx="1499616" cy="914400"/>
          </a:xfrm>
          <a:prstGeom prst="rect">
            <a:avLst/>
          </a:prstGeom>
          <a:noFill/>
          <a:ln/>
        </p:spPr>
        <p:txBody>
          <a:bodyPr wrap="square" lIns="0" tIns="0" rIns="0" bIns="0" rtlCol="0" anchor="t"/>
          <a:lstStyle/>
          <a:p>
            <a:pPr algn="ctr" indent="0" marL="0">
              <a:buNone/>
            </a:pPr>
            <a:r>
              <a:rPr lang="en-US" sz="1200" dirty="0">
                <a:solidFill>
                  <a:schemeClr val="tx2"/>
                </a:solidFill>
                <a:latin typeface="Calibri" pitchFamily="34" charset="0"/>
                <a:ea typeface="Calibri" pitchFamily="34" charset="-122"/>
                <a:cs typeface="Calibri" pitchFamily="34" charset="-120"/>
              </a:rPr>
              <a:t>Sweep, then the shelf-life bar</a:t>
            </a:r>
            <a:endParaRPr lang="en-US" sz="1200" dirty="0"/>
          </a:p>
        </p:txBody>
      </p:sp>
      <p:sp>
        <p:nvSpPr>
          <p:cNvPr id="24" name="milestone 6"/>
          <p:cNvSpPr/>
          <p:nvPr/>
        </p:nvSpPr>
        <p:spPr>
          <a:xfrm>
            <a:off x="9384792" y="2130552"/>
            <a:ext cx="402336" cy="402336"/>
          </a:xfrm>
          <a:prstGeom prst="ellipse">
            <a:avLst/>
          </a:prstGeom>
          <a:solidFill>
            <a:schemeClr val="accent1"/>
          </a:solidFill>
          <a:ln w="25400">
            <a:solidFill>
              <a:schemeClr val="bg1"/>
            </a:solidFill>
            <a:prstDash val="solid"/>
          </a:ln>
        </p:spPr>
      </p:sp>
      <p:sp>
        <p:nvSpPr>
          <p:cNvPr id="25" name="Text 23"/>
          <p:cNvSpPr txBox="1"/>
          <p:nvPr/>
        </p:nvSpPr>
        <p:spPr>
          <a:xfrm>
            <a:off x="8854440" y="1463040"/>
            <a:ext cx="1463040" cy="411480"/>
          </a:xfrm>
          <a:prstGeom prst="rect">
            <a:avLst/>
          </a:prstGeom>
          <a:noFill/>
          <a:ln/>
        </p:spPr>
        <p:txBody>
          <a:bodyPr wrap="square" lIns="0" tIns="0" rIns="0" bIns="0" rtlCol="0" anchor="t"/>
          <a:lstStyle/>
          <a:p>
            <a:pPr algn="ctr" indent="0" marL="0">
              <a:buNone/>
            </a:pPr>
            <a:r>
              <a:rPr lang="en-US" sz="1600" b="1" dirty="0">
                <a:solidFill>
                  <a:schemeClr val="accent1"/>
                </a:solidFill>
                <a:latin typeface="Calibri" pitchFamily="34" charset="0"/>
                <a:ea typeface="Calibri" pitchFamily="34" charset="-122"/>
                <a:cs typeface="Calibri" pitchFamily="34" charset="-120"/>
              </a:rPr>
              <a:t>6:00</a:t>
            </a:r>
            <a:endParaRPr lang="en-US" sz="1600" dirty="0"/>
          </a:p>
        </p:txBody>
      </p:sp>
      <p:sp>
        <p:nvSpPr>
          <p:cNvPr id="26" name="Text 24"/>
          <p:cNvSpPr txBox="1"/>
          <p:nvPr/>
        </p:nvSpPr>
        <p:spPr>
          <a:xfrm>
            <a:off x="8836152" y="2743200"/>
            <a:ext cx="1499616" cy="640080"/>
          </a:xfrm>
          <a:prstGeom prst="rect">
            <a:avLst/>
          </a:prstGeom>
          <a:noFill/>
          <a:ln/>
        </p:spPr>
        <p:txBody>
          <a:bodyPr wrap="square" lIns="0" tIns="0" rIns="0" bIns="0" rtlCol="0" anchor="t"/>
          <a:lstStyle/>
          <a:p>
            <a:pPr algn="ctr" indent="0" marL="0">
              <a:buNone/>
            </a:pPr>
            <a:r>
              <a:rPr lang="en-US" sz="1500" b="1" dirty="0">
                <a:solidFill>
                  <a:schemeClr val="tx1"/>
                </a:solidFill>
                <a:latin typeface="Calibri" pitchFamily="34" charset="0"/>
                <a:ea typeface="Calibri" pitchFamily="34" charset="-122"/>
                <a:cs typeface="Calibri" pitchFamily="34" charset="-120"/>
              </a:rPr>
              <a:t>Trigger a problem</a:t>
            </a:r>
            <a:endParaRPr lang="en-US" sz="1500" dirty="0"/>
          </a:p>
        </p:txBody>
      </p:sp>
      <p:sp>
        <p:nvSpPr>
          <p:cNvPr id="27" name="Text 25"/>
          <p:cNvSpPr txBox="1"/>
          <p:nvPr/>
        </p:nvSpPr>
        <p:spPr>
          <a:xfrm>
            <a:off x="8836152" y="3383280"/>
            <a:ext cx="1499616" cy="914400"/>
          </a:xfrm>
          <a:prstGeom prst="rect">
            <a:avLst/>
          </a:prstGeom>
          <a:noFill/>
          <a:ln/>
        </p:spPr>
        <p:txBody>
          <a:bodyPr wrap="square" lIns="0" tIns="0" rIns="0" bIns="0" rtlCol="0" anchor="t"/>
          <a:lstStyle/>
          <a:p>
            <a:pPr algn="ctr" indent="0" marL="0">
              <a:buNone/>
            </a:pPr>
            <a:r>
              <a:rPr lang="en-US" sz="1200" dirty="0">
                <a:solidFill>
                  <a:schemeClr val="tx2"/>
                </a:solidFill>
                <a:latin typeface="Calibri" pitchFamily="34" charset="0"/>
                <a:ea typeface="Calibri" pitchFamily="34" charset="-122"/>
                <a:cs typeface="Calibri" pitchFamily="34" charset="-120"/>
              </a:rPr>
              <a:t>Warm it or open the door; AI explains</a:t>
            </a:r>
            <a:endParaRPr lang="en-US" sz="1200" dirty="0"/>
          </a:p>
        </p:txBody>
      </p:sp>
      <p:sp>
        <p:nvSpPr>
          <p:cNvPr id="28" name="milestone 7"/>
          <p:cNvSpPr/>
          <p:nvPr/>
        </p:nvSpPr>
        <p:spPr>
          <a:xfrm>
            <a:off x="11137392" y="2130552"/>
            <a:ext cx="402336" cy="402336"/>
          </a:xfrm>
          <a:prstGeom prst="ellipse">
            <a:avLst/>
          </a:prstGeom>
          <a:solidFill>
            <a:schemeClr val="accent1"/>
          </a:solidFill>
          <a:ln w="25400">
            <a:solidFill>
              <a:schemeClr val="bg1"/>
            </a:solidFill>
            <a:prstDash val="solid"/>
          </a:ln>
        </p:spPr>
      </p:sp>
      <p:sp>
        <p:nvSpPr>
          <p:cNvPr id="29" name="Text 27"/>
          <p:cNvSpPr txBox="1"/>
          <p:nvPr/>
        </p:nvSpPr>
        <p:spPr>
          <a:xfrm>
            <a:off x="10607040" y="1463040"/>
            <a:ext cx="1463040" cy="411480"/>
          </a:xfrm>
          <a:prstGeom prst="rect">
            <a:avLst/>
          </a:prstGeom>
          <a:noFill/>
          <a:ln/>
        </p:spPr>
        <p:txBody>
          <a:bodyPr wrap="square" lIns="0" tIns="0" rIns="0" bIns="0" rtlCol="0" anchor="t"/>
          <a:lstStyle/>
          <a:p>
            <a:pPr algn="ctr" indent="0" marL="0">
              <a:buNone/>
            </a:pPr>
            <a:r>
              <a:rPr lang="en-US" sz="1600" b="1" dirty="0">
                <a:solidFill>
                  <a:schemeClr val="accent1"/>
                </a:solidFill>
                <a:latin typeface="Calibri" pitchFamily="34" charset="0"/>
                <a:ea typeface="Calibri" pitchFamily="34" charset="-122"/>
                <a:cs typeface="Calibri" pitchFamily="34" charset="-120"/>
              </a:rPr>
              <a:t>7:30</a:t>
            </a:r>
            <a:endParaRPr lang="en-US" sz="1600" dirty="0"/>
          </a:p>
        </p:txBody>
      </p:sp>
      <p:sp>
        <p:nvSpPr>
          <p:cNvPr id="30" name="Text 28"/>
          <p:cNvSpPr txBox="1"/>
          <p:nvPr/>
        </p:nvSpPr>
        <p:spPr>
          <a:xfrm>
            <a:off x="10588752" y="2743200"/>
            <a:ext cx="1499616" cy="640080"/>
          </a:xfrm>
          <a:prstGeom prst="rect">
            <a:avLst/>
          </a:prstGeom>
          <a:noFill/>
          <a:ln/>
        </p:spPr>
        <p:txBody>
          <a:bodyPr wrap="square" lIns="0" tIns="0" rIns="0" bIns="0" rtlCol="0" anchor="t"/>
          <a:lstStyle/>
          <a:p>
            <a:pPr algn="ctr" indent="0" marL="0">
              <a:buNone/>
            </a:pPr>
            <a:r>
              <a:rPr lang="en-US" sz="1500" b="1" dirty="0">
                <a:solidFill>
                  <a:schemeClr val="tx1"/>
                </a:solidFill>
                <a:latin typeface="Calibri" pitchFamily="34" charset="0"/>
                <a:ea typeface="Calibri" pitchFamily="34" charset="-122"/>
                <a:cs typeface="Calibri" pitchFamily="34" charset="-120"/>
              </a:rPr>
              <a:t>Admin panel</a:t>
            </a:r>
            <a:endParaRPr lang="en-US" sz="1500" dirty="0"/>
          </a:p>
        </p:txBody>
      </p:sp>
      <p:sp>
        <p:nvSpPr>
          <p:cNvPr id="31" name="Text 29"/>
          <p:cNvSpPr txBox="1"/>
          <p:nvPr/>
        </p:nvSpPr>
        <p:spPr>
          <a:xfrm>
            <a:off x="10588752" y="3383280"/>
            <a:ext cx="1499616" cy="914400"/>
          </a:xfrm>
          <a:prstGeom prst="rect">
            <a:avLst/>
          </a:prstGeom>
          <a:noFill/>
          <a:ln/>
        </p:spPr>
        <p:txBody>
          <a:bodyPr wrap="square" lIns="0" tIns="0" rIns="0" bIns="0" rtlCol="0" anchor="t"/>
          <a:lstStyle/>
          <a:p>
            <a:pPr algn="ctr" indent="0" marL="0">
              <a:buNone/>
            </a:pPr>
            <a:r>
              <a:rPr lang="en-US" sz="1200" dirty="0">
                <a:solidFill>
                  <a:schemeClr val="tx2"/>
                </a:solidFill>
                <a:latin typeface="Calibri" pitchFamily="34" charset="0"/>
                <a:ea typeface="Calibri" pitchFamily="34" charset="-122"/>
                <a:cs typeface="Calibri" pitchFamily="34" charset="-120"/>
              </a:rPr>
              <a:t>Fleet, shipment, Load Planner, AI Models</a:t>
            </a:r>
            <a:endParaRPr lang="en-US" sz="1200" dirty="0"/>
          </a:p>
        </p:txBody>
      </p:sp>
      <p:sp>
        <p:nvSpPr>
          <p:cNvPr id="32" name="fallback card"/>
          <p:cNvSpPr/>
          <p:nvPr/>
        </p:nvSpPr>
        <p:spPr>
          <a:xfrm>
            <a:off x="548640" y="4572000"/>
            <a:ext cx="11064240" cy="1600200"/>
          </a:xfrm>
          <a:prstGeom prst="roundRect">
            <a:avLst>
              <a:gd name="adj" fmla="val 6857"/>
            </a:avLst>
          </a:prstGeom>
          <a:solidFill>
            <a:schemeClr val="bg2"/>
          </a:solidFill>
          <a:ln w="12700">
            <a:solidFill>
              <a:schemeClr val="bg2"/>
            </a:solidFill>
            <a:prstDash val="solid"/>
          </a:ln>
          <a:effectLst>
            <a:outerShdw sx="100000" sy="100000" kx="0" ky="0" algn="bl" rotWithShape="0" blurRad="101600" dist="25400" dir="5400000">
              <a:srgbClr val="0B1736">
                <a:alpha val="12000"/>
              </a:srgbClr>
            </a:outerShdw>
          </a:effectLst>
        </p:spPr>
      </p:sp>
      <p:sp>
        <p:nvSpPr>
          <p:cNvPr id="33" name="icon circle FaLifeRing"/>
          <p:cNvSpPr/>
          <p:nvPr/>
        </p:nvSpPr>
        <p:spPr>
          <a:xfrm>
            <a:off x="777240" y="4846320"/>
            <a:ext cx="640080" cy="640080"/>
          </a:xfrm>
          <a:prstGeom prst="ellipse">
            <a:avLst/>
          </a:prstGeom>
          <a:solidFill>
            <a:schemeClr val="accent4"/>
          </a:solidFill>
          <a:ln w="12700">
            <a:solidFill>
              <a:schemeClr val="accent4"/>
            </a:solidFill>
            <a:prstDash val="solid"/>
          </a:ln>
        </p:spPr>
      </p:sp>
      <p:pic>
        <p:nvPicPr>
          <p:cNvPr id="34" name="Image 0" descr="FaLifeRing">    </p:cNvPr>
          <p:cNvPicPr>
            <a:picLocks noChangeAspect="1"/>
          </p:cNvPicPr>
          <p:nvPr/>
        </p:nvPicPr>
        <p:blipFill>
          <a:blip r:embed="rId1"/>
          <a:stretch>
            <a:fillRect/>
          </a:stretch>
        </p:blipFill>
        <p:spPr>
          <a:xfrm>
            <a:off x="930859" y="4999939"/>
            <a:ext cx="332842" cy="332842"/>
          </a:xfrm>
          <a:prstGeom prst="rect">
            <a:avLst/>
          </a:prstGeom>
        </p:spPr>
      </p:pic>
      <p:sp>
        <p:nvSpPr>
          <p:cNvPr id="35" name="Text 32"/>
          <p:cNvSpPr txBox="1"/>
          <p:nvPr/>
        </p:nvSpPr>
        <p:spPr>
          <a:xfrm>
            <a:off x="1600200" y="4800600"/>
            <a:ext cx="9601200" cy="41148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If something fails on the day</a:t>
            </a:r>
            <a:endParaRPr lang="en-US" sz="1800" dirty="0"/>
          </a:p>
        </p:txBody>
      </p:sp>
      <p:sp>
        <p:nvSpPr>
          <p:cNvPr id="36" name="Text 33"/>
          <p:cNvSpPr txBox="1"/>
          <p:nvPr/>
        </p:nvSpPr>
        <p:spPr>
          <a:xfrm>
            <a:off x="1600200" y="5257800"/>
            <a:ext cx="9784080" cy="7772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Bluetooth: press d in the console for the full light sequence.   LLM slow: the alert is already there.   Wi-Fi blocks devices: use the laptop's hotspot; the launcher finds the new address.</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8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libri" pitchFamily="34" charset="0"/>
                <a:ea typeface="Calibri" pitchFamily="34" charset="-122"/>
                <a:cs typeface="Calibri" pitchFamily="34" charset="-120"/>
              </a:rPr>
              <a:t>Future scope</a:t>
            </a:r>
            <a:endParaRPr lang="en-US" sz="3200" dirty="0"/>
          </a:p>
        </p:txBody>
      </p:sp>
      <p:sp>
        <p:nvSpPr>
          <p:cNvPr id="3" name="Model 1 live"/>
          <p:cNvSpPr/>
          <p:nvPr/>
        </p:nvSpPr>
        <p:spPr>
          <a:xfrm>
            <a:off x="548640" y="1325880"/>
            <a:ext cx="3520440" cy="2240280"/>
          </a:xfrm>
          <a:prstGeom prst="roundRect">
            <a:avLst>
              <a:gd name="adj" fmla="val 4898"/>
            </a:avLst>
          </a:prstGeom>
          <a:solidFill>
            <a:schemeClr val="bg2"/>
          </a:solidFill>
          <a:ln w="12700">
            <a:solidFill>
              <a:schemeClr val="bg2"/>
            </a:solidFill>
            <a:prstDash val="solid"/>
          </a:ln>
          <a:effectLst>
            <a:outerShdw sx="100000" sy="100000" kx="0" ky="0" algn="bl" rotWithShape="0" blurRad="101600" dist="25400" dir="5400000">
              <a:srgbClr val="0B1736">
                <a:alpha val="12000"/>
              </a:srgbClr>
            </a:outerShdw>
          </a:effectLst>
        </p:spPr>
      </p:sp>
      <p:sp>
        <p:nvSpPr>
          <p:cNvPr id="4" name="icon circle FaBrain"/>
          <p:cNvSpPr/>
          <p:nvPr/>
        </p:nvSpPr>
        <p:spPr>
          <a:xfrm>
            <a:off x="822960" y="1600200"/>
            <a:ext cx="685800" cy="685800"/>
          </a:xfrm>
          <a:prstGeom prst="ellipse">
            <a:avLst/>
          </a:prstGeom>
          <a:solidFill>
            <a:schemeClr val="accent1"/>
          </a:solidFill>
          <a:ln w="12700">
            <a:solidFill>
              <a:schemeClr val="accent1"/>
            </a:solidFill>
            <a:prstDash val="solid"/>
          </a:ln>
        </p:spPr>
      </p:sp>
      <p:pic>
        <p:nvPicPr>
          <p:cNvPr id="5" name="Image 0" descr="FaBrain">    </p:cNvPr>
          <p:cNvPicPr>
            <a:picLocks noChangeAspect="1"/>
          </p:cNvPicPr>
          <p:nvPr/>
        </p:nvPicPr>
        <p:blipFill>
          <a:blip r:embed="rId1"/>
          <a:stretch>
            <a:fillRect/>
          </a:stretch>
        </p:blipFill>
        <p:spPr>
          <a:xfrm>
            <a:off x="987552" y="1764792"/>
            <a:ext cx="356616" cy="356616"/>
          </a:xfrm>
          <a:prstGeom prst="rect">
            <a:avLst/>
          </a:prstGeom>
        </p:spPr>
      </p:pic>
      <p:sp>
        <p:nvSpPr>
          <p:cNvPr id="6" name="Text 3"/>
          <p:cNvSpPr txBox="1"/>
          <p:nvPr/>
        </p:nvSpPr>
        <p:spPr>
          <a:xfrm>
            <a:off x="1691640" y="1673352"/>
            <a:ext cx="2240280" cy="54864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Model 1 live</a:t>
            </a:r>
            <a:endParaRPr lang="en-US" sz="1800" dirty="0"/>
          </a:p>
        </p:txBody>
      </p:sp>
      <p:sp>
        <p:nvSpPr>
          <p:cNvPr id="7" name="Text 4"/>
          <p:cNvSpPr txBox="1"/>
          <p:nvPr/>
        </p:nvSpPr>
        <p:spPr>
          <a:xfrm>
            <a:off x="822960" y="2468880"/>
            <a:ext cx="3017520" cy="9601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Train on our own logged trips and switch on learned anomaly detection; the seam is ready.</a:t>
            </a:r>
            <a:endParaRPr lang="en-US" sz="1400" dirty="0"/>
          </a:p>
        </p:txBody>
      </p:sp>
      <p:sp>
        <p:nvSpPr>
          <p:cNvPr id="8" name="Model 2: root cause"/>
          <p:cNvSpPr/>
          <p:nvPr/>
        </p:nvSpPr>
        <p:spPr>
          <a:xfrm>
            <a:off x="4297680" y="1325880"/>
            <a:ext cx="3520440" cy="2240280"/>
          </a:xfrm>
          <a:prstGeom prst="roundRect">
            <a:avLst>
              <a:gd name="adj" fmla="val 4898"/>
            </a:avLst>
          </a:prstGeom>
          <a:solidFill>
            <a:schemeClr val="bg2"/>
          </a:solidFill>
          <a:ln w="12700">
            <a:solidFill>
              <a:schemeClr val="bg2"/>
            </a:solidFill>
            <a:prstDash val="solid"/>
          </a:ln>
          <a:effectLst>
            <a:outerShdw sx="100000" sy="100000" kx="0" ky="0" algn="bl" rotWithShape="0" blurRad="101600" dist="25400" dir="5400000">
              <a:srgbClr val="0B1736">
                <a:alpha val="12000"/>
              </a:srgbClr>
            </a:outerShdw>
          </a:effectLst>
        </p:spPr>
      </p:sp>
      <p:sp>
        <p:nvSpPr>
          <p:cNvPr id="9" name="icon circle FaBolt"/>
          <p:cNvSpPr/>
          <p:nvPr/>
        </p:nvSpPr>
        <p:spPr>
          <a:xfrm>
            <a:off x="4572000" y="1600200"/>
            <a:ext cx="685800" cy="685800"/>
          </a:xfrm>
          <a:prstGeom prst="ellipse">
            <a:avLst/>
          </a:prstGeom>
          <a:solidFill>
            <a:schemeClr val="accent1"/>
          </a:solidFill>
          <a:ln w="12700">
            <a:solidFill>
              <a:schemeClr val="accent1"/>
            </a:solidFill>
            <a:prstDash val="solid"/>
          </a:ln>
        </p:spPr>
      </p:sp>
      <p:pic>
        <p:nvPicPr>
          <p:cNvPr id="10" name="Image 1" descr="FaBolt">    </p:cNvPr>
          <p:cNvPicPr>
            <a:picLocks noChangeAspect="1"/>
          </p:cNvPicPr>
          <p:nvPr/>
        </p:nvPicPr>
        <p:blipFill>
          <a:blip r:embed="rId2"/>
          <a:stretch>
            <a:fillRect/>
          </a:stretch>
        </p:blipFill>
        <p:spPr>
          <a:xfrm>
            <a:off x="4736592" y="1764792"/>
            <a:ext cx="356616" cy="356616"/>
          </a:xfrm>
          <a:prstGeom prst="rect">
            <a:avLst/>
          </a:prstGeom>
        </p:spPr>
      </p:pic>
      <p:sp>
        <p:nvSpPr>
          <p:cNvPr id="11" name="Text 7"/>
          <p:cNvSpPr txBox="1"/>
          <p:nvPr/>
        </p:nvSpPr>
        <p:spPr>
          <a:xfrm>
            <a:off x="5440680" y="1673352"/>
            <a:ext cx="2240280" cy="54864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Model 2: root cause</a:t>
            </a:r>
            <a:endParaRPr lang="en-US" sz="1800" dirty="0"/>
          </a:p>
        </p:txBody>
      </p:sp>
      <p:sp>
        <p:nvSpPr>
          <p:cNvPr id="12" name="Text 8"/>
          <p:cNvSpPr txBox="1"/>
          <p:nvPr/>
        </p:nvSpPr>
        <p:spPr>
          <a:xfrm>
            <a:off x="4572000" y="2468880"/>
            <a:ext cx="3017520" cy="9601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Add an INA219 current sensor to tell a compressor fault from an open door.</a:t>
            </a:r>
            <a:endParaRPr lang="en-US" sz="1400" dirty="0"/>
          </a:p>
        </p:txBody>
      </p:sp>
      <p:sp>
        <p:nvSpPr>
          <p:cNvPr id="13" name="Over-the-air updates"/>
          <p:cNvSpPr/>
          <p:nvPr/>
        </p:nvSpPr>
        <p:spPr>
          <a:xfrm>
            <a:off x="8046720" y="1325880"/>
            <a:ext cx="3520440" cy="2240280"/>
          </a:xfrm>
          <a:prstGeom prst="roundRect">
            <a:avLst>
              <a:gd name="adj" fmla="val 4898"/>
            </a:avLst>
          </a:prstGeom>
          <a:solidFill>
            <a:schemeClr val="bg2"/>
          </a:solidFill>
          <a:ln w="12700">
            <a:solidFill>
              <a:schemeClr val="bg2"/>
            </a:solidFill>
            <a:prstDash val="solid"/>
          </a:ln>
          <a:effectLst>
            <a:outerShdw sx="100000" sy="100000" kx="0" ky="0" algn="bl" rotWithShape="0" blurRad="101600" dist="25400" dir="5400000">
              <a:srgbClr val="0B1736">
                <a:alpha val="12000"/>
              </a:srgbClr>
            </a:outerShdw>
          </a:effectLst>
        </p:spPr>
      </p:sp>
      <p:sp>
        <p:nvSpPr>
          <p:cNvPr id="14" name="icon circle FaSyncAlt"/>
          <p:cNvSpPr/>
          <p:nvPr/>
        </p:nvSpPr>
        <p:spPr>
          <a:xfrm>
            <a:off x="8321040" y="1600200"/>
            <a:ext cx="685800" cy="685800"/>
          </a:xfrm>
          <a:prstGeom prst="ellipse">
            <a:avLst/>
          </a:prstGeom>
          <a:solidFill>
            <a:schemeClr val="accent1"/>
          </a:solidFill>
          <a:ln w="12700">
            <a:solidFill>
              <a:schemeClr val="accent1"/>
            </a:solidFill>
            <a:prstDash val="solid"/>
          </a:ln>
        </p:spPr>
      </p:sp>
      <p:pic>
        <p:nvPicPr>
          <p:cNvPr id="15" name="Image 2" descr="FaSyncAlt">    </p:cNvPr>
          <p:cNvPicPr>
            <a:picLocks noChangeAspect="1"/>
          </p:cNvPicPr>
          <p:nvPr/>
        </p:nvPicPr>
        <p:blipFill>
          <a:blip r:embed="rId3"/>
          <a:stretch>
            <a:fillRect/>
          </a:stretch>
        </p:blipFill>
        <p:spPr>
          <a:xfrm>
            <a:off x="8485632" y="1764792"/>
            <a:ext cx="356616" cy="356616"/>
          </a:xfrm>
          <a:prstGeom prst="rect">
            <a:avLst/>
          </a:prstGeom>
        </p:spPr>
      </p:pic>
      <p:sp>
        <p:nvSpPr>
          <p:cNvPr id="16" name="Text 11"/>
          <p:cNvSpPr txBox="1"/>
          <p:nvPr/>
        </p:nvSpPr>
        <p:spPr>
          <a:xfrm>
            <a:off x="9189720" y="1673352"/>
            <a:ext cx="2240280" cy="54864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Over-the-air updates</a:t>
            </a:r>
            <a:endParaRPr lang="en-US" sz="1800" dirty="0"/>
          </a:p>
        </p:txBody>
      </p:sp>
      <p:sp>
        <p:nvSpPr>
          <p:cNvPr id="17" name="Text 12"/>
          <p:cNvSpPr txBox="1"/>
          <p:nvPr/>
        </p:nvSpPr>
        <p:spPr>
          <a:xfrm>
            <a:off x="8321040" y="2468880"/>
            <a:ext cx="3017520" cy="9601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Update the boxes' firmware without a laptop and a cable.</a:t>
            </a:r>
            <a:endParaRPr lang="en-US" sz="1400" dirty="0"/>
          </a:p>
        </p:txBody>
      </p:sp>
      <p:sp>
        <p:nvSpPr>
          <p:cNvPr id="18" name="No phone needed"/>
          <p:cNvSpPr/>
          <p:nvPr/>
        </p:nvSpPr>
        <p:spPr>
          <a:xfrm>
            <a:off x="548640" y="3794760"/>
            <a:ext cx="3520440" cy="2240280"/>
          </a:xfrm>
          <a:prstGeom prst="roundRect">
            <a:avLst>
              <a:gd name="adj" fmla="val 4898"/>
            </a:avLst>
          </a:prstGeom>
          <a:solidFill>
            <a:schemeClr val="bg2"/>
          </a:solidFill>
          <a:ln w="12700">
            <a:solidFill>
              <a:schemeClr val="bg2"/>
            </a:solidFill>
            <a:prstDash val="solid"/>
          </a:ln>
          <a:effectLst>
            <a:outerShdw sx="100000" sy="100000" kx="0" ky="0" algn="bl" rotWithShape="0" blurRad="101600" dist="25400" dir="5400000">
              <a:srgbClr val="0B1736">
                <a:alpha val="12000"/>
              </a:srgbClr>
            </a:outerShdw>
          </a:effectLst>
        </p:spPr>
      </p:sp>
      <p:sp>
        <p:nvSpPr>
          <p:cNvPr id="19" name="icon circle FaSatelliteDish"/>
          <p:cNvSpPr/>
          <p:nvPr/>
        </p:nvSpPr>
        <p:spPr>
          <a:xfrm>
            <a:off x="822960" y="4069080"/>
            <a:ext cx="685800" cy="685800"/>
          </a:xfrm>
          <a:prstGeom prst="ellipse">
            <a:avLst/>
          </a:prstGeom>
          <a:solidFill>
            <a:schemeClr val="accent1"/>
          </a:solidFill>
          <a:ln w="12700">
            <a:solidFill>
              <a:schemeClr val="accent1"/>
            </a:solidFill>
            <a:prstDash val="solid"/>
          </a:ln>
        </p:spPr>
      </p:sp>
      <p:pic>
        <p:nvPicPr>
          <p:cNvPr id="20" name="Image 3" descr="FaSatelliteDish">    </p:cNvPr>
          <p:cNvPicPr>
            <a:picLocks noChangeAspect="1"/>
          </p:cNvPicPr>
          <p:nvPr/>
        </p:nvPicPr>
        <p:blipFill>
          <a:blip r:embed="rId4"/>
          <a:stretch>
            <a:fillRect/>
          </a:stretch>
        </p:blipFill>
        <p:spPr>
          <a:xfrm>
            <a:off x="987552" y="4233672"/>
            <a:ext cx="356616" cy="356616"/>
          </a:xfrm>
          <a:prstGeom prst="rect">
            <a:avLst/>
          </a:prstGeom>
        </p:spPr>
      </p:pic>
      <p:sp>
        <p:nvSpPr>
          <p:cNvPr id="21" name="Text 15"/>
          <p:cNvSpPr txBox="1"/>
          <p:nvPr/>
        </p:nvSpPr>
        <p:spPr>
          <a:xfrm>
            <a:off x="1691640" y="4142232"/>
            <a:ext cx="2240280" cy="54864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No phone needed</a:t>
            </a:r>
            <a:endParaRPr lang="en-US" sz="1800" dirty="0"/>
          </a:p>
        </p:txBody>
      </p:sp>
      <p:sp>
        <p:nvSpPr>
          <p:cNvPr id="22" name="Text 16"/>
          <p:cNvSpPr txBox="1"/>
          <p:nvPr/>
        </p:nvSpPr>
        <p:spPr>
          <a:xfrm>
            <a:off x="822960" y="4937760"/>
            <a:ext cx="3017520" cy="9601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LTE-M or LoRaWAN on the box, with the phone as an optional display.</a:t>
            </a:r>
            <a:endParaRPr lang="en-US" sz="1400" dirty="0"/>
          </a:p>
        </p:txBody>
      </p:sp>
      <p:sp>
        <p:nvSpPr>
          <p:cNvPr id="23" name="Cloud and multi-fleet"/>
          <p:cNvSpPr/>
          <p:nvPr/>
        </p:nvSpPr>
        <p:spPr>
          <a:xfrm>
            <a:off x="4297680" y="3794760"/>
            <a:ext cx="3520440" cy="2240280"/>
          </a:xfrm>
          <a:prstGeom prst="roundRect">
            <a:avLst>
              <a:gd name="adj" fmla="val 4898"/>
            </a:avLst>
          </a:prstGeom>
          <a:solidFill>
            <a:schemeClr val="bg2"/>
          </a:solidFill>
          <a:ln w="12700">
            <a:solidFill>
              <a:schemeClr val="bg2"/>
            </a:solidFill>
            <a:prstDash val="solid"/>
          </a:ln>
          <a:effectLst>
            <a:outerShdw sx="100000" sy="100000" kx="0" ky="0" algn="bl" rotWithShape="0" blurRad="101600" dist="25400" dir="5400000">
              <a:srgbClr val="0B1736">
                <a:alpha val="12000"/>
              </a:srgbClr>
            </a:outerShdw>
          </a:effectLst>
        </p:spPr>
      </p:sp>
      <p:sp>
        <p:nvSpPr>
          <p:cNvPr id="24" name="icon circle FaCloud"/>
          <p:cNvSpPr/>
          <p:nvPr/>
        </p:nvSpPr>
        <p:spPr>
          <a:xfrm>
            <a:off x="4572000" y="4069080"/>
            <a:ext cx="685800" cy="685800"/>
          </a:xfrm>
          <a:prstGeom prst="ellipse">
            <a:avLst/>
          </a:prstGeom>
          <a:solidFill>
            <a:schemeClr val="accent1"/>
          </a:solidFill>
          <a:ln w="12700">
            <a:solidFill>
              <a:schemeClr val="accent1"/>
            </a:solidFill>
            <a:prstDash val="solid"/>
          </a:ln>
        </p:spPr>
      </p:sp>
      <p:pic>
        <p:nvPicPr>
          <p:cNvPr id="25" name="Image 4" descr="FaCloud">    </p:cNvPr>
          <p:cNvPicPr>
            <a:picLocks noChangeAspect="1"/>
          </p:cNvPicPr>
          <p:nvPr/>
        </p:nvPicPr>
        <p:blipFill>
          <a:blip r:embed="rId5"/>
          <a:stretch>
            <a:fillRect/>
          </a:stretch>
        </p:blipFill>
        <p:spPr>
          <a:xfrm>
            <a:off x="4736592" y="4233672"/>
            <a:ext cx="356616" cy="356616"/>
          </a:xfrm>
          <a:prstGeom prst="rect">
            <a:avLst/>
          </a:prstGeom>
        </p:spPr>
      </p:pic>
      <p:sp>
        <p:nvSpPr>
          <p:cNvPr id="26" name="Text 19"/>
          <p:cNvSpPr txBox="1"/>
          <p:nvPr/>
        </p:nvSpPr>
        <p:spPr>
          <a:xfrm>
            <a:off x="5440680" y="4142232"/>
            <a:ext cx="2240280" cy="54864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Cloud and multi-fleet</a:t>
            </a:r>
            <a:endParaRPr lang="en-US" sz="1800" dirty="0"/>
          </a:p>
        </p:txBody>
      </p:sp>
      <p:sp>
        <p:nvSpPr>
          <p:cNvPr id="27" name="Text 20"/>
          <p:cNvSpPr txBox="1"/>
          <p:nvPr/>
        </p:nvSpPr>
        <p:spPr>
          <a:xfrm>
            <a:off x="4572000" y="4937760"/>
            <a:ext cx="3017520" cy="9601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PostgreSQL, a real TLS domain, Docker, accounts and roles.</a:t>
            </a:r>
            <a:endParaRPr lang="en-US" sz="1400" dirty="0"/>
          </a:p>
        </p:txBody>
      </p:sp>
      <p:sp>
        <p:nvSpPr>
          <p:cNvPr id="28" name="Map and real-time push"/>
          <p:cNvSpPr/>
          <p:nvPr/>
        </p:nvSpPr>
        <p:spPr>
          <a:xfrm>
            <a:off x="8046720" y="3794760"/>
            <a:ext cx="3520440" cy="2240280"/>
          </a:xfrm>
          <a:prstGeom prst="roundRect">
            <a:avLst>
              <a:gd name="adj" fmla="val 4898"/>
            </a:avLst>
          </a:prstGeom>
          <a:solidFill>
            <a:schemeClr val="bg2"/>
          </a:solidFill>
          <a:ln w="12700">
            <a:solidFill>
              <a:schemeClr val="bg2"/>
            </a:solidFill>
            <a:prstDash val="solid"/>
          </a:ln>
          <a:effectLst>
            <a:outerShdw sx="100000" sy="100000" kx="0" ky="0" algn="bl" rotWithShape="0" blurRad="101600" dist="25400" dir="5400000">
              <a:srgbClr val="0B1736">
                <a:alpha val="12000"/>
              </a:srgbClr>
            </a:outerShdw>
          </a:effectLst>
        </p:spPr>
      </p:sp>
      <p:sp>
        <p:nvSpPr>
          <p:cNvPr id="29" name="icon circle FaMapMarkedAlt"/>
          <p:cNvSpPr/>
          <p:nvPr/>
        </p:nvSpPr>
        <p:spPr>
          <a:xfrm>
            <a:off x="8321040" y="4069080"/>
            <a:ext cx="685800" cy="685800"/>
          </a:xfrm>
          <a:prstGeom prst="ellipse">
            <a:avLst/>
          </a:prstGeom>
          <a:solidFill>
            <a:schemeClr val="accent1"/>
          </a:solidFill>
          <a:ln w="12700">
            <a:solidFill>
              <a:schemeClr val="accent1"/>
            </a:solidFill>
            <a:prstDash val="solid"/>
          </a:ln>
        </p:spPr>
      </p:sp>
      <p:pic>
        <p:nvPicPr>
          <p:cNvPr id="30" name="Image 5" descr="FaMapMarkedAlt">    </p:cNvPr>
          <p:cNvPicPr>
            <a:picLocks noChangeAspect="1"/>
          </p:cNvPicPr>
          <p:nvPr/>
        </p:nvPicPr>
        <p:blipFill>
          <a:blip r:embed="rId6"/>
          <a:stretch>
            <a:fillRect/>
          </a:stretch>
        </p:blipFill>
        <p:spPr>
          <a:xfrm>
            <a:off x="8485632" y="4233672"/>
            <a:ext cx="356616" cy="356616"/>
          </a:xfrm>
          <a:prstGeom prst="rect">
            <a:avLst/>
          </a:prstGeom>
        </p:spPr>
      </p:pic>
      <p:sp>
        <p:nvSpPr>
          <p:cNvPr id="31" name="Text 23"/>
          <p:cNvSpPr txBox="1"/>
          <p:nvPr/>
        </p:nvSpPr>
        <p:spPr>
          <a:xfrm>
            <a:off x="9189720" y="4142232"/>
            <a:ext cx="2240280" cy="54864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Map and real-time push</a:t>
            </a:r>
            <a:endParaRPr lang="en-US" sz="1800" dirty="0"/>
          </a:p>
        </p:txBody>
      </p:sp>
      <p:sp>
        <p:nvSpPr>
          <p:cNvPr id="32" name="Text 24"/>
          <p:cNvSpPr txBox="1"/>
          <p:nvPr/>
        </p:nvSpPr>
        <p:spPr>
          <a:xfrm>
            <a:off x="8321040" y="4937760"/>
            <a:ext cx="3017520" cy="9601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GPS is already recorded; add a fleet map and instant alerts.</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8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libri" pitchFamily="34" charset="0"/>
                <a:ea typeface="Calibri" pitchFamily="34" charset="-122"/>
                <a:cs typeface="Calibri" pitchFamily="34" charset="-120"/>
              </a:rPr>
              <a:t>Maintenance strategy</a:t>
            </a:r>
            <a:endParaRPr lang="en-US" sz="3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7040880" cy="914400"/>
        </p:xfrm>
        <a:graphic>
          <a:graphicData uri="http://schemas.openxmlformats.org/drawingml/2006/table">
            <a:tbl>
              <a:tblPr/>
              <a:tblGrid>
                <a:gridCol w="1188720"/>
                <a:gridCol w="3931920"/>
                <a:gridCol w="1920240"/>
              </a:tblGrid>
              <a:tr h="603504">
                <a:tc>
                  <a:txBody>
                    <a:bodyPr/>
                    <a:lstStyle/>
                    <a:p>
                      <a:pPr indent="0" marL="0">
                        <a:buNone/>
                      </a:pPr>
                      <a:r>
                        <a:rPr lang="en-US" sz="1400" b="1" dirty="0">
                          <a:solidFill>
                            <a:srgbClr val="FFFFFF"/>
                          </a:solidFill>
                        </a:rPr>
                        <a:t>Area</a:t>
                      </a:r>
                      <a:endParaRPr lang="en-US" sz="1400" dirty="0"/>
                    </a:p>
                  </a:txBody>
                  <a:tcPr marL="109728" marR="109728" marT="45720" marB="45720" anchor="ctr">
                    <a:lnL w="9525" cap="flat" cmpd="sng" algn="ctr">
                      <a:solidFill>
                        <a:srgbClr val="C9D3EA"/>
                      </a:solidFill>
                      <a:prstDash val="solid"/>
                      <a:round/>
                      <a:headEnd type="none" w="med" len="med"/>
                      <a:tailEnd type="none" w="med" len="med"/>
                    </a:lnL>
                    <a:lnR w="9525" cap="flat" cmpd="sng" algn="ctr">
                      <a:solidFill>
                        <a:srgbClr val="C9D3EA"/>
                      </a:solidFill>
                      <a:prstDash val="solid"/>
                      <a:round/>
                      <a:headEnd type="none" w="med" len="med"/>
                      <a:tailEnd type="none" w="med" len="med"/>
                    </a:lnR>
                    <a:lnT w="9525" cap="flat" cmpd="sng" algn="ctr">
                      <a:solidFill>
                        <a:srgbClr val="C9D3EA"/>
                      </a:solidFill>
                      <a:prstDash val="solid"/>
                      <a:round/>
                      <a:headEnd type="none" w="med" len="med"/>
                      <a:tailEnd type="none" w="med" len="med"/>
                    </a:lnT>
                    <a:lnB w="9525" cap="flat" cmpd="sng" algn="ctr">
                      <a:solidFill>
                        <a:srgbClr val="C9D3EA"/>
                      </a:solidFill>
                      <a:prstDash val="solid"/>
                      <a:round/>
                      <a:headEnd type="none" w="med" len="med"/>
                      <a:tailEnd type="none" w="med" len="med"/>
                    </a:lnB>
                    <a:solidFill>
                      <a:srgbClr val="0B1736"/>
                    </a:solidFill>
                  </a:tcPr>
                </a:tc>
                <a:tc>
                  <a:txBody>
                    <a:bodyPr/>
                    <a:lstStyle/>
                    <a:p>
                      <a:pPr indent="0" marL="0">
                        <a:buNone/>
                      </a:pPr>
                      <a:r>
                        <a:rPr lang="en-US" sz="1400" b="1" dirty="0">
                          <a:solidFill>
                            <a:srgbClr val="FFFFFF"/>
                          </a:solidFill>
                        </a:rPr>
                        <a:t>What</a:t>
                      </a:r>
                      <a:endParaRPr lang="en-US" sz="1400" dirty="0"/>
                    </a:p>
                  </a:txBody>
                  <a:tcPr marL="109728" marR="109728" marT="45720" marB="45720" anchor="ctr">
                    <a:lnL w="9525" cap="flat" cmpd="sng" algn="ctr">
                      <a:solidFill>
                        <a:srgbClr val="C9D3EA"/>
                      </a:solidFill>
                      <a:prstDash val="solid"/>
                      <a:round/>
                      <a:headEnd type="none" w="med" len="med"/>
                      <a:tailEnd type="none" w="med" len="med"/>
                    </a:lnL>
                    <a:lnR w="9525" cap="flat" cmpd="sng" algn="ctr">
                      <a:solidFill>
                        <a:srgbClr val="C9D3EA"/>
                      </a:solidFill>
                      <a:prstDash val="solid"/>
                      <a:round/>
                      <a:headEnd type="none" w="med" len="med"/>
                      <a:tailEnd type="none" w="med" len="med"/>
                    </a:lnR>
                    <a:lnT w="9525" cap="flat" cmpd="sng" algn="ctr">
                      <a:solidFill>
                        <a:srgbClr val="C9D3EA"/>
                      </a:solidFill>
                      <a:prstDash val="solid"/>
                      <a:round/>
                      <a:headEnd type="none" w="med" len="med"/>
                      <a:tailEnd type="none" w="med" len="med"/>
                    </a:lnT>
                    <a:lnB w="9525" cap="flat" cmpd="sng" algn="ctr">
                      <a:solidFill>
                        <a:srgbClr val="C9D3EA"/>
                      </a:solidFill>
                      <a:prstDash val="solid"/>
                      <a:round/>
                      <a:headEnd type="none" w="med" len="med"/>
                      <a:tailEnd type="none" w="med" len="med"/>
                    </a:lnB>
                    <a:solidFill>
                      <a:srgbClr val="0B1736"/>
                    </a:solidFill>
                  </a:tcPr>
                </a:tc>
                <a:tc>
                  <a:txBody>
                    <a:bodyPr/>
                    <a:lstStyle/>
                    <a:p>
                      <a:pPr indent="0" marL="0">
                        <a:buNone/>
                      </a:pPr>
                      <a:r>
                        <a:rPr lang="en-US" sz="1400" b="1" dirty="0">
                          <a:solidFill>
                            <a:srgbClr val="FFFFFF"/>
                          </a:solidFill>
                        </a:rPr>
                        <a:t>When</a:t>
                      </a:r>
                      <a:endParaRPr lang="en-US" sz="1400" dirty="0"/>
                    </a:p>
                  </a:txBody>
                  <a:tcPr marL="109728" marR="109728" marT="45720" marB="45720" anchor="ctr">
                    <a:lnL w="9525" cap="flat" cmpd="sng" algn="ctr">
                      <a:solidFill>
                        <a:srgbClr val="C9D3EA"/>
                      </a:solidFill>
                      <a:prstDash val="solid"/>
                      <a:round/>
                      <a:headEnd type="none" w="med" len="med"/>
                      <a:tailEnd type="none" w="med" len="med"/>
                    </a:lnL>
                    <a:lnR w="9525" cap="flat" cmpd="sng" algn="ctr">
                      <a:solidFill>
                        <a:srgbClr val="C9D3EA"/>
                      </a:solidFill>
                      <a:prstDash val="solid"/>
                      <a:round/>
                      <a:headEnd type="none" w="med" len="med"/>
                      <a:tailEnd type="none" w="med" len="med"/>
                    </a:lnR>
                    <a:lnT w="9525" cap="flat" cmpd="sng" algn="ctr">
                      <a:solidFill>
                        <a:srgbClr val="C9D3EA"/>
                      </a:solidFill>
                      <a:prstDash val="solid"/>
                      <a:round/>
                      <a:headEnd type="none" w="med" len="med"/>
                      <a:tailEnd type="none" w="med" len="med"/>
                    </a:lnT>
                    <a:lnB w="9525" cap="flat" cmpd="sng" algn="ctr">
                      <a:solidFill>
                        <a:srgbClr val="C9D3EA"/>
                      </a:solidFill>
                      <a:prstDash val="solid"/>
                      <a:round/>
                      <a:headEnd type="none" w="med" len="med"/>
                      <a:tailEnd type="none" w="med" len="med"/>
                    </a:lnB>
                    <a:solidFill>
                      <a:srgbClr val="0B1736"/>
                    </a:solidFill>
                  </a:tcPr>
                </a:tc>
              </a:tr>
              <a:tr h="603504">
                <a:tc>
                  <a:txBody>
                    <a:bodyPr/>
                    <a:lstStyle/>
                    <a:p>
                      <a:pPr indent="0" marL="0">
                        <a:buNone/>
                      </a:pPr>
                      <a:r>
                        <a:rPr lang="en-US" sz="1300" b="1" dirty="0">
                          <a:solidFill>
                            <a:srgbClr val="0B1736"/>
                          </a:solidFill>
                        </a:rPr>
                        <a:t>Code</a:t>
                      </a:r>
                      <a:endParaRPr lang="en-US" sz="1300" dirty="0"/>
                    </a:p>
                  </a:txBody>
                  <a:tcPr marL="109728" marR="109728" marT="45720" marB="45720" anchor="ctr">
                    <a:lnL w="9525" cap="flat" cmpd="sng" algn="ctr">
                      <a:solidFill>
                        <a:srgbClr val="C9D3EA"/>
                      </a:solidFill>
                      <a:prstDash val="solid"/>
                      <a:round/>
                      <a:headEnd type="none" w="med" len="med"/>
                      <a:tailEnd type="none" w="med" len="med"/>
                    </a:lnL>
                    <a:lnR w="9525" cap="flat" cmpd="sng" algn="ctr">
                      <a:solidFill>
                        <a:srgbClr val="C9D3EA"/>
                      </a:solidFill>
                      <a:prstDash val="solid"/>
                      <a:round/>
                      <a:headEnd type="none" w="med" len="med"/>
                      <a:tailEnd type="none" w="med" len="med"/>
                    </a:lnR>
                    <a:lnT w="9525" cap="flat" cmpd="sng" algn="ctr">
                      <a:solidFill>
                        <a:srgbClr val="C9D3EA"/>
                      </a:solidFill>
                      <a:prstDash val="solid"/>
                      <a:round/>
                      <a:headEnd type="none" w="med" len="med"/>
                      <a:tailEnd type="none" w="med" len="med"/>
                    </a:lnT>
                    <a:lnB w="9525" cap="flat" cmpd="sng" algn="ctr">
                      <a:solidFill>
                        <a:srgbClr val="C9D3EA"/>
                      </a:solidFill>
                      <a:prstDash val="solid"/>
                      <a:round/>
                      <a:headEnd type="none" w="med" len="med"/>
                      <a:tailEnd type="none" w="med" len="med"/>
                    </a:lnB>
                    <a:solidFill>
                      <a:srgbClr val="EEF3FF"/>
                    </a:solidFill>
                  </a:tcPr>
                </a:tc>
                <a:tc>
                  <a:txBody>
                    <a:bodyPr/>
                    <a:lstStyle/>
                    <a:p>
                      <a:pPr indent="0" marL="0">
                        <a:buNone/>
                      </a:pPr>
                      <a:r>
                        <a:rPr lang="en-US" sz="1300" dirty="0">
                          <a:solidFill>
                            <a:srgbClr val="0B1736"/>
                          </a:solidFill>
                        </a:rPr>
                        <a:t>Tests, lint, build and firmware compile before every merge</a:t>
                      </a:r>
                      <a:endParaRPr lang="en-US" sz="1300" dirty="0"/>
                    </a:p>
                  </a:txBody>
                  <a:tcPr marL="109728" marR="109728" marT="45720" marB="45720" anchor="ctr">
                    <a:lnL w="9525" cap="flat" cmpd="sng" algn="ctr">
                      <a:solidFill>
                        <a:srgbClr val="C9D3EA"/>
                      </a:solidFill>
                      <a:prstDash val="solid"/>
                      <a:round/>
                      <a:headEnd type="none" w="med" len="med"/>
                      <a:tailEnd type="none" w="med" len="med"/>
                    </a:lnL>
                    <a:lnR w="9525" cap="flat" cmpd="sng" algn="ctr">
                      <a:solidFill>
                        <a:srgbClr val="C9D3EA"/>
                      </a:solidFill>
                      <a:prstDash val="solid"/>
                      <a:round/>
                      <a:headEnd type="none" w="med" len="med"/>
                      <a:tailEnd type="none" w="med" len="med"/>
                    </a:lnR>
                    <a:lnT w="9525" cap="flat" cmpd="sng" algn="ctr">
                      <a:solidFill>
                        <a:srgbClr val="C9D3EA"/>
                      </a:solidFill>
                      <a:prstDash val="solid"/>
                      <a:round/>
                      <a:headEnd type="none" w="med" len="med"/>
                      <a:tailEnd type="none" w="med" len="med"/>
                    </a:lnT>
                    <a:lnB w="9525" cap="flat" cmpd="sng" algn="ctr">
                      <a:solidFill>
                        <a:srgbClr val="C9D3EA"/>
                      </a:solidFill>
                      <a:prstDash val="solid"/>
                      <a:round/>
                      <a:headEnd type="none" w="med" len="med"/>
                      <a:tailEnd type="none" w="med" len="med"/>
                    </a:lnB>
                    <a:solidFill>
                      <a:srgbClr val="EEF3FF"/>
                    </a:solidFill>
                  </a:tcPr>
                </a:tc>
                <a:tc>
                  <a:txBody>
                    <a:bodyPr/>
                    <a:lstStyle/>
                    <a:p>
                      <a:pPr indent="0" marL="0">
                        <a:buNone/>
                      </a:pPr>
                      <a:r>
                        <a:rPr lang="en-US" sz="1300" dirty="0">
                          <a:solidFill>
                            <a:srgbClr val="0B1736"/>
                          </a:solidFill>
                        </a:rPr>
                        <a:t>Every change</a:t>
                      </a:r>
                      <a:endParaRPr lang="en-US" sz="1300" dirty="0"/>
                    </a:p>
                  </a:txBody>
                  <a:tcPr marL="109728" marR="109728" marT="45720" marB="45720" anchor="ctr">
                    <a:lnL w="9525" cap="flat" cmpd="sng" algn="ctr">
                      <a:solidFill>
                        <a:srgbClr val="C9D3EA"/>
                      </a:solidFill>
                      <a:prstDash val="solid"/>
                      <a:round/>
                      <a:headEnd type="none" w="med" len="med"/>
                      <a:tailEnd type="none" w="med" len="med"/>
                    </a:lnL>
                    <a:lnR w="9525" cap="flat" cmpd="sng" algn="ctr">
                      <a:solidFill>
                        <a:srgbClr val="C9D3EA"/>
                      </a:solidFill>
                      <a:prstDash val="solid"/>
                      <a:round/>
                      <a:headEnd type="none" w="med" len="med"/>
                      <a:tailEnd type="none" w="med" len="med"/>
                    </a:lnR>
                    <a:lnT w="9525" cap="flat" cmpd="sng" algn="ctr">
                      <a:solidFill>
                        <a:srgbClr val="C9D3EA"/>
                      </a:solidFill>
                      <a:prstDash val="solid"/>
                      <a:round/>
                      <a:headEnd type="none" w="med" len="med"/>
                      <a:tailEnd type="none" w="med" len="med"/>
                    </a:lnT>
                    <a:lnB w="9525" cap="flat" cmpd="sng" algn="ctr">
                      <a:solidFill>
                        <a:srgbClr val="C9D3EA"/>
                      </a:solidFill>
                      <a:prstDash val="solid"/>
                      <a:round/>
                      <a:headEnd type="none" w="med" len="med"/>
                      <a:tailEnd type="none" w="med" len="med"/>
                    </a:lnB>
                    <a:solidFill>
                      <a:srgbClr val="EEF3FF"/>
                    </a:solidFill>
                  </a:tcPr>
                </a:tc>
              </a:tr>
              <a:tr h="603504">
                <a:tc>
                  <a:txBody>
                    <a:bodyPr/>
                    <a:lstStyle/>
                    <a:p>
                      <a:pPr indent="0" marL="0">
                        <a:buNone/>
                      </a:pPr>
                      <a:r>
                        <a:rPr lang="en-US" sz="1300" b="1" dirty="0">
                          <a:solidFill>
                            <a:srgbClr val="0B1736"/>
                          </a:solidFill>
                        </a:rPr>
                        <a:t>Models</a:t>
                      </a:r>
                      <a:endParaRPr lang="en-US" sz="1300" dirty="0"/>
                    </a:p>
                  </a:txBody>
                  <a:tcPr marL="109728" marR="109728" marT="45720" marB="45720" anchor="ctr">
                    <a:lnL w="9525" cap="flat" cmpd="sng" algn="ctr">
                      <a:solidFill>
                        <a:srgbClr val="C9D3EA"/>
                      </a:solidFill>
                      <a:prstDash val="solid"/>
                      <a:round/>
                      <a:headEnd type="none" w="med" len="med"/>
                      <a:tailEnd type="none" w="med" len="med"/>
                    </a:lnL>
                    <a:lnR w="9525" cap="flat" cmpd="sng" algn="ctr">
                      <a:solidFill>
                        <a:srgbClr val="C9D3EA"/>
                      </a:solidFill>
                      <a:prstDash val="solid"/>
                      <a:round/>
                      <a:headEnd type="none" w="med" len="med"/>
                      <a:tailEnd type="none" w="med" len="med"/>
                    </a:lnR>
                    <a:lnT w="9525" cap="flat" cmpd="sng" algn="ctr">
                      <a:solidFill>
                        <a:srgbClr val="C9D3EA"/>
                      </a:solidFill>
                      <a:prstDash val="solid"/>
                      <a:round/>
                      <a:headEnd type="none" w="med" len="med"/>
                      <a:tailEnd type="none" w="med" len="med"/>
                    </a:lnT>
                    <a:lnB w="9525" cap="flat" cmpd="sng" algn="ctr">
                      <a:solidFill>
                        <a:srgbClr val="C9D3EA"/>
                      </a:solidFill>
                      <a:prstDash val="solid"/>
                      <a:round/>
                      <a:headEnd type="none" w="med" len="med"/>
                      <a:tailEnd type="none" w="med" len="med"/>
                    </a:lnB>
                    <a:solidFill>
                      <a:srgbClr val="FFFFFF"/>
                    </a:solidFill>
                  </a:tcPr>
                </a:tc>
                <a:tc>
                  <a:txBody>
                    <a:bodyPr/>
                    <a:lstStyle/>
                    <a:p>
                      <a:pPr indent="0" marL="0">
                        <a:buNone/>
                      </a:pPr>
                      <a:r>
                        <a:rPr lang="en-US" sz="1300" dirty="0">
                          <a:solidFill>
                            <a:srgbClr val="0B1736"/>
                          </a:solidFill>
                        </a:rPr>
                        <a:t>Retrain with train_all.py; promote only if scores hold</a:t>
                      </a:r>
                      <a:endParaRPr lang="en-US" sz="1300" dirty="0"/>
                    </a:p>
                  </a:txBody>
                  <a:tcPr marL="109728" marR="109728" marT="45720" marB="45720" anchor="ctr">
                    <a:lnL w="9525" cap="flat" cmpd="sng" algn="ctr">
                      <a:solidFill>
                        <a:srgbClr val="C9D3EA"/>
                      </a:solidFill>
                      <a:prstDash val="solid"/>
                      <a:round/>
                      <a:headEnd type="none" w="med" len="med"/>
                      <a:tailEnd type="none" w="med" len="med"/>
                    </a:lnL>
                    <a:lnR w="9525" cap="flat" cmpd="sng" algn="ctr">
                      <a:solidFill>
                        <a:srgbClr val="C9D3EA"/>
                      </a:solidFill>
                      <a:prstDash val="solid"/>
                      <a:round/>
                      <a:headEnd type="none" w="med" len="med"/>
                      <a:tailEnd type="none" w="med" len="med"/>
                    </a:lnR>
                    <a:lnT w="9525" cap="flat" cmpd="sng" algn="ctr">
                      <a:solidFill>
                        <a:srgbClr val="C9D3EA"/>
                      </a:solidFill>
                      <a:prstDash val="solid"/>
                      <a:round/>
                      <a:headEnd type="none" w="med" len="med"/>
                      <a:tailEnd type="none" w="med" len="med"/>
                    </a:lnT>
                    <a:lnB w="9525" cap="flat" cmpd="sng" algn="ctr">
                      <a:solidFill>
                        <a:srgbClr val="C9D3EA"/>
                      </a:solidFill>
                      <a:prstDash val="solid"/>
                      <a:round/>
                      <a:headEnd type="none" w="med" len="med"/>
                      <a:tailEnd type="none" w="med" len="med"/>
                    </a:lnB>
                    <a:solidFill>
                      <a:srgbClr val="FFFFFF"/>
                    </a:solidFill>
                  </a:tcPr>
                </a:tc>
                <a:tc>
                  <a:txBody>
                    <a:bodyPr/>
                    <a:lstStyle/>
                    <a:p>
                      <a:pPr indent="0" marL="0">
                        <a:buNone/>
                      </a:pPr>
                      <a:r>
                        <a:rPr lang="en-US" sz="1300" dirty="0">
                          <a:solidFill>
                            <a:srgbClr val="0B1736"/>
                          </a:solidFill>
                        </a:rPr>
                        <a:t>Catalog change / quarterly</a:t>
                      </a:r>
                      <a:endParaRPr lang="en-US" sz="1300" dirty="0"/>
                    </a:p>
                  </a:txBody>
                  <a:tcPr marL="109728" marR="109728" marT="45720" marB="45720" anchor="ctr">
                    <a:lnL w="9525" cap="flat" cmpd="sng" algn="ctr">
                      <a:solidFill>
                        <a:srgbClr val="C9D3EA"/>
                      </a:solidFill>
                      <a:prstDash val="solid"/>
                      <a:round/>
                      <a:headEnd type="none" w="med" len="med"/>
                      <a:tailEnd type="none" w="med" len="med"/>
                    </a:lnL>
                    <a:lnR w="9525" cap="flat" cmpd="sng" algn="ctr">
                      <a:solidFill>
                        <a:srgbClr val="C9D3EA"/>
                      </a:solidFill>
                      <a:prstDash val="solid"/>
                      <a:round/>
                      <a:headEnd type="none" w="med" len="med"/>
                      <a:tailEnd type="none" w="med" len="med"/>
                    </a:lnR>
                    <a:lnT w="9525" cap="flat" cmpd="sng" algn="ctr">
                      <a:solidFill>
                        <a:srgbClr val="C9D3EA"/>
                      </a:solidFill>
                      <a:prstDash val="solid"/>
                      <a:round/>
                      <a:headEnd type="none" w="med" len="med"/>
                      <a:tailEnd type="none" w="med" len="med"/>
                    </a:lnT>
                    <a:lnB w="9525" cap="flat" cmpd="sng" algn="ctr">
                      <a:solidFill>
                        <a:srgbClr val="C9D3EA"/>
                      </a:solidFill>
                      <a:prstDash val="solid"/>
                      <a:round/>
                      <a:headEnd type="none" w="med" len="med"/>
                      <a:tailEnd type="none" w="med" len="med"/>
                    </a:lnB>
                    <a:solidFill>
                      <a:srgbClr val="FFFFFF"/>
                    </a:solidFill>
                  </a:tcPr>
                </a:tc>
              </a:tr>
              <a:tr h="603504">
                <a:tc>
                  <a:txBody>
                    <a:bodyPr/>
                    <a:lstStyle/>
                    <a:p>
                      <a:pPr indent="0" marL="0">
                        <a:buNone/>
                      </a:pPr>
                      <a:r>
                        <a:rPr lang="en-US" sz="1300" b="1" dirty="0">
                          <a:solidFill>
                            <a:srgbClr val="0B1736"/>
                          </a:solidFill>
                        </a:rPr>
                        <a:t>Data</a:t>
                      </a:r>
                      <a:endParaRPr lang="en-US" sz="1300" dirty="0"/>
                    </a:p>
                  </a:txBody>
                  <a:tcPr marL="109728" marR="109728" marT="45720" marB="45720" anchor="ctr">
                    <a:lnL w="9525" cap="flat" cmpd="sng" algn="ctr">
                      <a:solidFill>
                        <a:srgbClr val="C9D3EA"/>
                      </a:solidFill>
                      <a:prstDash val="solid"/>
                      <a:round/>
                      <a:headEnd type="none" w="med" len="med"/>
                      <a:tailEnd type="none" w="med" len="med"/>
                    </a:lnL>
                    <a:lnR w="9525" cap="flat" cmpd="sng" algn="ctr">
                      <a:solidFill>
                        <a:srgbClr val="C9D3EA"/>
                      </a:solidFill>
                      <a:prstDash val="solid"/>
                      <a:round/>
                      <a:headEnd type="none" w="med" len="med"/>
                      <a:tailEnd type="none" w="med" len="med"/>
                    </a:lnR>
                    <a:lnT w="9525" cap="flat" cmpd="sng" algn="ctr">
                      <a:solidFill>
                        <a:srgbClr val="C9D3EA"/>
                      </a:solidFill>
                      <a:prstDash val="solid"/>
                      <a:round/>
                      <a:headEnd type="none" w="med" len="med"/>
                      <a:tailEnd type="none" w="med" len="med"/>
                    </a:lnT>
                    <a:lnB w="9525" cap="flat" cmpd="sng" algn="ctr">
                      <a:solidFill>
                        <a:srgbClr val="C9D3EA"/>
                      </a:solidFill>
                      <a:prstDash val="solid"/>
                      <a:round/>
                      <a:headEnd type="none" w="med" len="med"/>
                      <a:tailEnd type="none" w="med" len="med"/>
                    </a:lnB>
                    <a:solidFill>
                      <a:srgbClr val="EEF3FF"/>
                    </a:solidFill>
                  </a:tcPr>
                </a:tc>
                <a:tc>
                  <a:txBody>
                    <a:bodyPr/>
                    <a:lstStyle/>
                    <a:p>
                      <a:pPr indent="0" marL="0">
                        <a:buNone/>
                      </a:pPr>
                      <a:r>
                        <a:rPr lang="en-US" sz="1300" dirty="0">
                          <a:solidFill>
                            <a:srgbClr val="0B1736"/>
                          </a:solidFill>
                        </a:rPr>
                        <a:t>Timestamped database backup; additive schema changes</a:t>
                      </a:r>
                      <a:endParaRPr lang="en-US" sz="1300" dirty="0"/>
                    </a:p>
                  </a:txBody>
                  <a:tcPr marL="109728" marR="109728" marT="45720" marB="45720" anchor="ctr">
                    <a:lnL w="9525" cap="flat" cmpd="sng" algn="ctr">
                      <a:solidFill>
                        <a:srgbClr val="C9D3EA"/>
                      </a:solidFill>
                      <a:prstDash val="solid"/>
                      <a:round/>
                      <a:headEnd type="none" w="med" len="med"/>
                      <a:tailEnd type="none" w="med" len="med"/>
                    </a:lnL>
                    <a:lnR w="9525" cap="flat" cmpd="sng" algn="ctr">
                      <a:solidFill>
                        <a:srgbClr val="C9D3EA"/>
                      </a:solidFill>
                      <a:prstDash val="solid"/>
                      <a:round/>
                      <a:headEnd type="none" w="med" len="med"/>
                      <a:tailEnd type="none" w="med" len="med"/>
                    </a:lnR>
                    <a:lnT w="9525" cap="flat" cmpd="sng" algn="ctr">
                      <a:solidFill>
                        <a:srgbClr val="C9D3EA"/>
                      </a:solidFill>
                      <a:prstDash val="solid"/>
                      <a:round/>
                      <a:headEnd type="none" w="med" len="med"/>
                      <a:tailEnd type="none" w="med" len="med"/>
                    </a:lnT>
                    <a:lnB w="9525" cap="flat" cmpd="sng" algn="ctr">
                      <a:solidFill>
                        <a:srgbClr val="C9D3EA"/>
                      </a:solidFill>
                      <a:prstDash val="solid"/>
                      <a:round/>
                      <a:headEnd type="none" w="med" len="med"/>
                      <a:tailEnd type="none" w="med" len="med"/>
                    </a:lnB>
                    <a:solidFill>
                      <a:srgbClr val="EEF3FF"/>
                    </a:solidFill>
                  </a:tcPr>
                </a:tc>
                <a:tc>
                  <a:txBody>
                    <a:bodyPr/>
                    <a:lstStyle/>
                    <a:p>
                      <a:pPr indent="0" marL="0">
                        <a:buNone/>
                      </a:pPr>
                      <a:r>
                        <a:rPr lang="en-US" sz="1300" dirty="0">
                          <a:solidFill>
                            <a:srgbClr val="0B1736"/>
                          </a:solidFill>
                        </a:rPr>
                        <a:t>Weekly, before upgrades</a:t>
                      </a:r>
                      <a:endParaRPr lang="en-US" sz="1300" dirty="0"/>
                    </a:p>
                  </a:txBody>
                  <a:tcPr marL="109728" marR="109728" marT="45720" marB="45720" anchor="ctr">
                    <a:lnL w="9525" cap="flat" cmpd="sng" algn="ctr">
                      <a:solidFill>
                        <a:srgbClr val="C9D3EA"/>
                      </a:solidFill>
                      <a:prstDash val="solid"/>
                      <a:round/>
                      <a:headEnd type="none" w="med" len="med"/>
                      <a:tailEnd type="none" w="med" len="med"/>
                    </a:lnL>
                    <a:lnR w="9525" cap="flat" cmpd="sng" algn="ctr">
                      <a:solidFill>
                        <a:srgbClr val="C9D3EA"/>
                      </a:solidFill>
                      <a:prstDash val="solid"/>
                      <a:round/>
                      <a:headEnd type="none" w="med" len="med"/>
                      <a:tailEnd type="none" w="med" len="med"/>
                    </a:lnR>
                    <a:lnT w="9525" cap="flat" cmpd="sng" algn="ctr">
                      <a:solidFill>
                        <a:srgbClr val="C9D3EA"/>
                      </a:solidFill>
                      <a:prstDash val="solid"/>
                      <a:round/>
                      <a:headEnd type="none" w="med" len="med"/>
                      <a:tailEnd type="none" w="med" len="med"/>
                    </a:lnT>
                    <a:lnB w="9525" cap="flat" cmpd="sng" algn="ctr">
                      <a:solidFill>
                        <a:srgbClr val="C9D3EA"/>
                      </a:solidFill>
                      <a:prstDash val="solid"/>
                      <a:round/>
                      <a:headEnd type="none" w="med" len="med"/>
                      <a:tailEnd type="none" w="med" len="med"/>
                    </a:lnB>
                    <a:solidFill>
                      <a:srgbClr val="EEF3FF"/>
                    </a:solidFill>
                  </a:tcPr>
                </a:tc>
              </a:tr>
              <a:tr h="603504">
                <a:tc>
                  <a:txBody>
                    <a:bodyPr/>
                    <a:lstStyle/>
                    <a:p>
                      <a:pPr indent="0" marL="0">
                        <a:buNone/>
                      </a:pPr>
                      <a:r>
                        <a:rPr lang="en-US" sz="1300" b="1" dirty="0">
                          <a:solidFill>
                            <a:srgbClr val="0B1736"/>
                          </a:solidFill>
                        </a:rPr>
                        <a:t>LLM</a:t>
                      </a:r>
                      <a:endParaRPr lang="en-US" sz="1300" dirty="0"/>
                    </a:p>
                  </a:txBody>
                  <a:tcPr marL="109728" marR="109728" marT="45720" marB="45720" anchor="ctr">
                    <a:lnL w="9525" cap="flat" cmpd="sng" algn="ctr">
                      <a:solidFill>
                        <a:srgbClr val="C9D3EA"/>
                      </a:solidFill>
                      <a:prstDash val="solid"/>
                      <a:round/>
                      <a:headEnd type="none" w="med" len="med"/>
                      <a:tailEnd type="none" w="med" len="med"/>
                    </a:lnL>
                    <a:lnR w="9525" cap="flat" cmpd="sng" algn="ctr">
                      <a:solidFill>
                        <a:srgbClr val="C9D3EA"/>
                      </a:solidFill>
                      <a:prstDash val="solid"/>
                      <a:round/>
                      <a:headEnd type="none" w="med" len="med"/>
                      <a:tailEnd type="none" w="med" len="med"/>
                    </a:lnR>
                    <a:lnT w="9525" cap="flat" cmpd="sng" algn="ctr">
                      <a:solidFill>
                        <a:srgbClr val="C9D3EA"/>
                      </a:solidFill>
                      <a:prstDash val="solid"/>
                      <a:round/>
                      <a:headEnd type="none" w="med" len="med"/>
                      <a:tailEnd type="none" w="med" len="med"/>
                    </a:lnT>
                    <a:lnB w="9525" cap="flat" cmpd="sng" algn="ctr">
                      <a:solidFill>
                        <a:srgbClr val="C9D3EA"/>
                      </a:solidFill>
                      <a:prstDash val="solid"/>
                      <a:round/>
                      <a:headEnd type="none" w="med" len="med"/>
                      <a:tailEnd type="none" w="med" len="med"/>
                    </a:lnB>
                    <a:solidFill>
                      <a:srgbClr val="FFFFFF"/>
                    </a:solidFill>
                  </a:tcPr>
                </a:tc>
                <a:tc>
                  <a:txBody>
                    <a:bodyPr/>
                    <a:lstStyle/>
                    <a:p>
                      <a:pPr indent="0" marL="0">
                        <a:buNone/>
                      </a:pPr>
                      <a:r>
                        <a:rPr lang="en-US" sz="1300" dirty="0">
                          <a:solidFill>
                            <a:srgbClr val="0B1736"/>
                          </a:solidFill>
                        </a:rPr>
                        <a:t>AI Models page and /health; Test LLM</a:t>
                      </a:r>
                      <a:endParaRPr lang="en-US" sz="1300" dirty="0"/>
                    </a:p>
                  </a:txBody>
                  <a:tcPr marL="109728" marR="109728" marT="45720" marB="45720" anchor="ctr">
                    <a:lnL w="9525" cap="flat" cmpd="sng" algn="ctr">
                      <a:solidFill>
                        <a:srgbClr val="C9D3EA"/>
                      </a:solidFill>
                      <a:prstDash val="solid"/>
                      <a:round/>
                      <a:headEnd type="none" w="med" len="med"/>
                      <a:tailEnd type="none" w="med" len="med"/>
                    </a:lnL>
                    <a:lnR w="9525" cap="flat" cmpd="sng" algn="ctr">
                      <a:solidFill>
                        <a:srgbClr val="C9D3EA"/>
                      </a:solidFill>
                      <a:prstDash val="solid"/>
                      <a:round/>
                      <a:headEnd type="none" w="med" len="med"/>
                      <a:tailEnd type="none" w="med" len="med"/>
                    </a:lnR>
                    <a:lnT w="9525" cap="flat" cmpd="sng" algn="ctr">
                      <a:solidFill>
                        <a:srgbClr val="C9D3EA"/>
                      </a:solidFill>
                      <a:prstDash val="solid"/>
                      <a:round/>
                      <a:headEnd type="none" w="med" len="med"/>
                      <a:tailEnd type="none" w="med" len="med"/>
                    </a:lnT>
                    <a:lnB w="9525" cap="flat" cmpd="sng" algn="ctr">
                      <a:solidFill>
                        <a:srgbClr val="C9D3EA"/>
                      </a:solidFill>
                      <a:prstDash val="solid"/>
                      <a:round/>
                      <a:headEnd type="none" w="med" len="med"/>
                      <a:tailEnd type="none" w="med" len="med"/>
                    </a:lnB>
                    <a:solidFill>
                      <a:srgbClr val="FFFFFF"/>
                    </a:solidFill>
                  </a:tcPr>
                </a:tc>
                <a:tc>
                  <a:txBody>
                    <a:bodyPr/>
                    <a:lstStyle/>
                    <a:p>
                      <a:pPr indent="0" marL="0">
                        <a:buNone/>
                      </a:pPr>
                      <a:r>
                        <a:rPr lang="en-US" sz="1300" dirty="0">
                          <a:solidFill>
                            <a:srgbClr val="0B1736"/>
                          </a:solidFill>
                        </a:rPr>
                        <a:t>Daily in use</a:t>
                      </a:r>
                      <a:endParaRPr lang="en-US" sz="1300" dirty="0"/>
                    </a:p>
                  </a:txBody>
                  <a:tcPr marL="109728" marR="109728" marT="45720" marB="45720" anchor="ctr">
                    <a:lnL w="9525" cap="flat" cmpd="sng" algn="ctr">
                      <a:solidFill>
                        <a:srgbClr val="C9D3EA"/>
                      </a:solidFill>
                      <a:prstDash val="solid"/>
                      <a:round/>
                      <a:headEnd type="none" w="med" len="med"/>
                      <a:tailEnd type="none" w="med" len="med"/>
                    </a:lnL>
                    <a:lnR w="9525" cap="flat" cmpd="sng" algn="ctr">
                      <a:solidFill>
                        <a:srgbClr val="C9D3EA"/>
                      </a:solidFill>
                      <a:prstDash val="solid"/>
                      <a:round/>
                      <a:headEnd type="none" w="med" len="med"/>
                      <a:tailEnd type="none" w="med" len="med"/>
                    </a:lnR>
                    <a:lnT w="9525" cap="flat" cmpd="sng" algn="ctr">
                      <a:solidFill>
                        <a:srgbClr val="C9D3EA"/>
                      </a:solidFill>
                      <a:prstDash val="solid"/>
                      <a:round/>
                      <a:headEnd type="none" w="med" len="med"/>
                      <a:tailEnd type="none" w="med" len="med"/>
                    </a:lnT>
                    <a:lnB w="9525" cap="flat" cmpd="sng" algn="ctr">
                      <a:solidFill>
                        <a:srgbClr val="C9D3EA"/>
                      </a:solidFill>
                      <a:prstDash val="solid"/>
                      <a:round/>
                      <a:headEnd type="none" w="med" len="med"/>
                      <a:tailEnd type="none" w="med" len="med"/>
                    </a:lnB>
                    <a:solidFill>
                      <a:srgbClr val="FFFFFF"/>
                    </a:solidFill>
                  </a:tcPr>
                </a:tc>
              </a:tr>
              <a:tr h="603504">
                <a:tc>
                  <a:txBody>
                    <a:bodyPr/>
                    <a:lstStyle/>
                    <a:p>
                      <a:pPr indent="0" marL="0">
                        <a:buNone/>
                      </a:pPr>
                      <a:r>
                        <a:rPr lang="en-US" sz="1300" b="1" dirty="0">
                          <a:solidFill>
                            <a:srgbClr val="0B1736"/>
                          </a:solidFill>
                        </a:rPr>
                        <a:t>Hardware</a:t>
                      </a:r>
                      <a:endParaRPr lang="en-US" sz="1300" dirty="0"/>
                    </a:p>
                  </a:txBody>
                  <a:tcPr marL="109728" marR="109728" marT="45720" marB="45720" anchor="ctr">
                    <a:lnL w="9525" cap="flat" cmpd="sng" algn="ctr">
                      <a:solidFill>
                        <a:srgbClr val="C9D3EA"/>
                      </a:solidFill>
                      <a:prstDash val="solid"/>
                      <a:round/>
                      <a:headEnd type="none" w="med" len="med"/>
                      <a:tailEnd type="none" w="med" len="med"/>
                    </a:lnL>
                    <a:lnR w="9525" cap="flat" cmpd="sng" algn="ctr">
                      <a:solidFill>
                        <a:srgbClr val="C9D3EA"/>
                      </a:solidFill>
                      <a:prstDash val="solid"/>
                      <a:round/>
                      <a:headEnd type="none" w="med" len="med"/>
                      <a:tailEnd type="none" w="med" len="med"/>
                    </a:lnR>
                    <a:lnT w="9525" cap="flat" cmpd="sng" algn="ctr">
                      <a:solidFill>
                        <a:srgbClr val="C9D3EA"/>
                      </a:solidFill>
                      <a:prstDash val="solid"/>
                      <a:round/>
                      <a:headEnd type="none" w="med" len="med"/>
                      <a:tailEnd type="none" w="med" len="med"/>
                    </a:lnT>
                    <a:lnB w="9525" cap="flat" cmpd="sng" algn="ctr">
                      <a:solidFill>
                        <a:srgbClr val="C9D3EA"/>
                      </a:solidFill>
                      <a:prstDash val="solid"/>
                      <a:round/>
                      <a:headEnd type="none" w="med" len="med"/>
                      <a:tailEnd type="none" w="med" len="med"/>
                    </a:lnB>
                    <a:solidFill>
                      <a:srgbClr val="EEF3FF"/>
                    </a:solidFill>
                  </a:tcPr>
                </a:tc>
                <a:tc>
                  <a:txBody>
                    <a:bodyPr/>
                    <a:lstStyle/>
                    <a:p>
                      <a:pPr indent="0" marL="0">
                        <a:buNone/>
                      </a:pPr>
                      <a:r>
                        <a:rPr lang="en-US" sz="1300" dirty="0">
                          <a:solidFill>
                            <a:srgbClr val="0B1736"/>
                          </a:solidFill>
                        </a:rPr>
                        <a:t>DHT22 vs a reference thermometer; g, d, x test keys</a:t>
                      </a:r>
                      <a:endParaRPr lang="en-US" sz="1300" dirty="0"/>
                    </a:p>
                  </a:txBody>
                  <a:tcPr marL="109728" marR="109728" marT="45720" marB="45720" anchor="ctr">
                    <a:lnL w="9525" cap="flat" cmpd="sng" algn="ctr">
                      <a:solidFill>
                        <a:srgbClr val="C9D3EA"/>
                      </a:solidFill>
                      <a:prstDash val="solid"/>
                      <a:round/>
                      <a:headEnd type="none" w="med" len="med"/>
                      <a:tailEnd type="none" w="med" len="med"/>
                    </a:lnL>
                    <a:lnR w="9525" cap="flat" cmpd="sng" algn="ctr">
                      <a:solidFill>
                        <a:srgbClr val="C9D3EA"/>
                      </a:solidFill>
                      <a:prstDash val="solid"/>
                      <a:round/>
                      <a:headEnd type="none" w="med" len="med"/>
                      <a:tailEnd type="none" w="med" len="med"/>
                    </a:lnR>
                    <a:lnT w="9525" cap="flat" cmpd="sng" algn="ctr">
                      <a:solidFill>
                        <a:srgbClr val="C9D3EA"/>
                      </a:solidFill>
                      <a:prstDash val="solid"/>
                      <a:round/>
                      <a:headEnd type="none" w="med" len="med"/>
                      <a:tailEnd type="none" w="med" len="med"/>
                    </a:lnT>
                    <a:lnB w="9525" cap="flat" cmpd="sng" algn="ctr">
                      <a:solidFill>
                        <a:srgbClr val="C9D3EA"/>
                      </a:solidFill>
                      <a:prstDash val="solid"/>
                      <a:round/>
                      <a:headEnd type="none" w="med" len="med"/>
                      <a:tailEnd type="none" w="med" len="med"/>
                    </a:lnB>
                    <a:solidFill>
                      <a:srgbClr val="EEF3FF"/>
                    </a:solidFill>
                  </a:tcPr>
                </a:tc>
                <a:tc>
                  <a:txBody>
                    <a:bodyPr/>
                    <a:lstStyle/>
                    <a:p>
                      <a:pPr indent="0" marL="0">
                        <a:buNone/>
                      </a:pPr>
                      <a:r>
                        <a:rPr lang="en-US" sz="1300" dirty="0">
                          <a:solidFill>
                            <a:srgbClr val="0B1736"/>
                          </a:solidFill>
                        </a:rPr>
                        <a:t>Monthly</a:t>
                      </a:r>
                      <a:endParaRPr lang="en-US" sz="1300" dirty="0"/>
                    </a:p>
                  </a:txBody>
                  <a:tcPr marL="109728" marR="109728" marT="45720" marB="45720" anchor="ctr">
                    <a:lnL w="9525" cap="flat" cmpd="sng" algn="ctr">
                      <a:solidFill>
                        <a:srgbClr val="C9D3EA"/>
                      </a:solidFill>
                      <a:prstDash val="solid"/>
                      <a:round/>
                      <a:headEnd type="none" w="med" len="med"/>
                      <a:tailEnd type="none" w="med" len="med"/>
                    </a:lnL>
                    <a:lnR w="9525" cap="flat" cmpd="sng" algn="ctr">
                      <a:solidFill>
                        <a:srgbClr val="C9D3EA"/>
                      </a:solidFill>
                      <a:prstDash val="solid"/>
                      <a:round/>
                      <a:headEnd type="none" w="med" len="med"/>
                      <a:tailEnd type="none" w="med" len="med"/>
                    </a:lnR>
                    <a:lnT w="9525" cap="flat" cmpd="sng" algn="ctr">
                      <a:solidFill>
                        <a:srgbClr val="C9D3EA"/>
                      </a:solidFill>
                      <a:prstDash val="solid"/>
                      <a:round/>
                      <a:headEnd type="none" w="med" len="med"/>
                      <a:tailEnd type="none" w="med" len="med"/>
                    </a:lnT>
                    <a:lnB w="9525" cap="flat" cmpd="sng" algn="ctr">
                      <a:solidFill>
                        <a:srgbClr val="C9D3EA"/>
                      </a:solidFill>
                      <a:prstDash val="solid"/>
                      <a:round/>
                      <a:headEnd type="none" w="med" len="med"/>
                      <a:tailEnd type="none" w="med" len="med"/>
                    </a:lnB>
                    <a:solidFill>
                      <a:srgbClr val="EEF3FF"/>
                    </a:solidFill>
                  </a:tcPr>
                </a:tc>
              </a:tr>
              <a:tr h="603504">
                <a:tc>
                  <a:txBody>
                    <a:bodyPr/>
                    <a:lstStyle/>
                    <a:p>
                      <a:pPr indent="0" marL="0">
                        <a:buNone/>
                      </a:pPr>
                      <a:r>
                        <a:rPr lang="en-US" sz="1300" b="1" dirty="0">
                          <a:solidFill>
                            <a:srgbClr val="0B1736"/>
                          </a:solidFill>
                        </a:rPr>
                        <a:t>Security</a:t>
                      </a:r>
                      <a:endParaRPr lang="en-US" sz="1300" dirty="0"/>
                    </a:p>
                  </a:txBody>
                  <a:tcPr marL="109728" marR="109728" marT="45720" marB="45720" anchor="ctr">
                    <a:lnL w="9525" cap="flat" cmpd="sng" algn="ctr">
                      <a:solidFill>
                        <a:srgbClr val="C9D3EA"/>
                      </a:solidFill>
                      <a:prstDash val="solid"/>
                      <a:round/>
                      <a:headEnd type="none" w="med" len="med"/>
                      <a:tailEnd type="none" w="med" len="med"/>
                    </a:lnL>
                    <a:lnR w="9525" cap="flat" cmpd="sng" algn="ctr">
                      <a:solidFill>
                        <a:srgbClr val="C9D3EA"/>
                      </a:solidFill>
                      <a:prstDash val="solid"/>
                      <a:round/>
                      <a:headEnd type="none" w="med" len="med"/>
                      <a:tailEnd type="none" w="med" len="med"/>
                    </a:lnR>
                    <a:lnT w="9525" cap="flat" cmpd="sng" algn="ctr">
                      <a:solidFill>
                        <a:srgbClr val="C9D3EA"/>
                      </a:solidFill>
                      <a:prstDash val="solid"/>
                      <a:round/>
                      <a:headEnd type="none" w="med" len="med"/>
                      <a:tailEnd type="none" w="med" len="med"/>
                    </a:lnT>
                    <a:lnB w="9525" cap="flat" cmpd="sng" algn="ctr">
                      <a:solidFill>
                        <a:srgbClr val="C9D3EA"/>
                      </a:solidFill>
                      <a:prstDash val="solid"/>
                      <a:round/>
                      <a:headEnd type="none" w="med" len="med"/>
                      <a:tailEnd type="none" w="med" len="med"/>
                    </a:lnB>
                    <a:solidFill>
                      <a:srgbClr val="FFFFFF"/>
                    </a:solidFill>
                  </a:tcPr>
                </a:tc>
                <a:tc>
                  <a:txBody>
                    <a:bodyPr/>
                    <a:lstStyle/>
                    <a:p>
                      <a:pPr indent="0" marL="0">
                        <a:buNone/>
                      </a:pPr>
                      <a:r>
                        <a:rPr lang="en-US" sz="1300" dirty="0">
                          <a:solidFill>
                            <a:srgbClr val="0B1736"/>
                          </a:solidFill>
                        </a:rPr>
                        <a:t>Rotate secrets; certificate renews itself</a:t>
                      </a:r>
                      <a:endParaRPr lang="en-US" sz="1300" dirty="0"/>
                    </a:p>
                  </a:txBody>
                  <a:tcPr marL="109728" marR="109728" marT="45720" marB="45720" anchor="ctr">
                    <a:lnL w="9525" cap="flat" cmpd="sng" algn="ctr">
                      <a:solidFill>
                        <a:srgbClr val="C9D3EA"/>
                      </a:solidFill>
                      <a:prstDash val="solid"/>
                      <a:round/>
                      <a:headEnd type="none" w="med" len="med"/>
                      <a:tailEnd type="none" w="med" len="med"/>
                    </a:lnL>
                    <a:lnR w="9525" cap="flat" cmpd="sng" algn="ctr">
                      <a:solidFill>
                        <a:srgbClr val="C9D3EA"/>
                      </a:solidFill>
                      <a:prstDash val="solid"/>
                      <a:round/>
                      <a:headEnd type="none" w="med" len="med"/>
                      <a:tailEnd type="none" w="med" len="med"/>
                    </a:lnR>
                    <a:lnT w="9525" cap="flat" cmpd="sng" algn="ctr">
                      <a:solidFill>
                        <a:srgbClr val="C9D3EA"/>
                      </a:solidFill>
                      <a:prstDash val="solid"/>
                      <a:round/>
                      <a:headEnd type="none" w="med" len="med"/>
                      <a:tailEnd type="none" w="med" len="med"/>
                    </a:lnT>
                    <a:lnB w="9525" cap="flat" cmpd="sng" algn="ctr">
                      <a:solidFill>
                        <a:srgbClr val="C9D3EA"/>
                      </a:solidFill>
                      <a:prstDash val="solid"/>
                      <a:round/>
                      <a:headEnd type="none" w="med" len="med"/>
                      <a:tailEnd type="none" w="med" len="med"/>
                    </a:lnB>
                    <a:solidFill>
                      <a:srgbClr val="FFFFFF"/>
                    </a:solidFill>
                  </a:tcPr>
                </a:tc>
                <a:tc>
                  <a:txBody>
                    <a:bodyPr/>
                    <a:lstStyle/>
                    <a:p>
                      <a:pPr indent="0" marL="0">
                        <a:buNone/>
                      </a:pPr>
                      <a:r>
                        <a:rPr lang="en-US" sz="1300" dirty="0">
                          <a:solidFill>
                            <a:srgbClr val="0B1736"/>
                          </a:solidFill>
                        </a:rPr>
                        <a:t>Every 90 days</a:t>
                      </a:r>
                      <a:endParaRPr lang="en-US" sz="1300" dirty="0"/>
                    </a:p>
                  </a:txBody>
                  <a:tcPr marL="109728" marR="109728" marT="45720" marB="45720" anchor="ctr">
                    <a:lnL w="9525" cap="flat" cmpd="sng" algn="ctr">
                      <a:solidFill>
                        <a:srgbClr val="C9D3EA"/>
                      </a:solidFill>
                      <a:prstDash val="solid"/>
                      <a:round/>
                      <a:headEnd type="none" w="med" len="med"/>
                      <a:tailEnd type="none" w="med" len="med"/>
                    </a:lnL>
                    <a:lnR w="9525" cap="flat" cmpd="sng" algn="ctr">
                      <a:solidFill>
                        <a:srgbClr val="C9D3EA"/>
                      </a:solidFill>
                      <a:prstDash val="solid"/>
                      <a:round/>
                      <a:headEnd type="none" w="med" len="med"/>
                      <a:tailEnd type="none" w="med" len="med"/>
                    </a:lnR>
                    <a:lnT w="9525" cap="flat" cmpd="sng" algn="ctr">
                      <a:solidFill>
                        <a:srgbClr val="C9D3EA"/>
                      </a:solidFill>
                      <a:prstDash val="solid"/>
                      <a:round/>
                      <a:headEnd type="none" w="med" len="med"/>
                      <a:tailEnd type="none" w="med" len="med"/>
                    </a:lnT>
                    <a:lnB w="9525" cap="flat" cmpd="sng" algn="ctr">
                      <a:solidFill>
                        <a:srgbClr val="C9D3EA"/>
                      </a:solidFill>
                      <a:prstDash val="solid"/>
                      <a:round/>
                      <a:headEnd type="none" w="med" len="med"/>
                      <a:tailEnd type="none" w="med" len="med"/>
                    </a:lnB>
                    <a:solidFill>
                      <a:srgbClr val="FFFFFF"/>
                    </a:solidFill>
                  </a:tcPr>
                </a:tc>
              </a:tr>
            </a:tbl>
          </a:graphicData>
        </a:graphic>
      </p:graphicFrame>
      <p:sp>
        <p:nvSpPr>
          <p:cNvPr id="4" name="governance card"/>
          <p:cNvSpPr/>
          <p:nvPr/>
        </p:nvSpPr>
        <p:spPr>
          <a:xfrm>
            <a:off x="7863840" y="1325880"/>
            <a:ext cx="3749040" cy="4846320"/>
          </a:xfrm>
          <a:prstGeom prst="roundRect">
            <a:avLst>
              <a:gd name="adj" fmla="val 2927"/>
            </a:avLst>
          </a:prstGeom>
          <a:solidFill>
            <a:schemeClr val="bg2"/>
          </a:solidFill>
          <a:ln w="12700">
            <a:solidFill>
              <a:schemeClr val="bg2"/>
            </a:solidFill>
            <a:prstDash val="solid"/>
          </a:ln>
          <a:effectLst>
            <a:outerShdw sx="100000" sy="100000" kx="0" ky="0" algn="bl" rotWithShape="0" blurRad="101600" dist="25400" dir="5400000">
              <a:srgbClr val="0B1736">
                <a:alpha val="12000"/>
              </a:srgbClr>
            </a:outerShdw>
          </a:effectLst>
        </p:spPr>
      </p:sp>
      <p:sp>
        <p:nvSpPr>
          <p:cNvPr id="5" name="icon circle FaShieldAlt"/>
          <p:cNvSpPr/>
          <p:nvPr/>
        </p:nvSpPr>
        <p:spPr>
          <a:xfrm>
            <a:off x="8138160" y="1600200"/>
            <a:ext cx="685800" cy="685800"/>
          </a:xfrm>
          <a:prstGeom prst="ellipse">
            <a:avLst/>
          </a:prstGeom>
          <a:solidFill>
            <a:schemeClr val="accent1"/>
          </a:solidFill>
          <a:ln w="12700">
            <a:solidFill>
              <a:schemeClr val="accent1"/>
            </a:solidFill>
            <a:prstDash val="solid"/>
          </a:ln>
        </p:spPr>
      </p:sp>
      <p:pic>
        <p:nvPicPr>
          <p:cNvPr id="6" name="Image 0" descr="FaShieldAlt">    </p:cNvPr>
          <p:cNvPicPr>
            <a:picLocks noChangeAspect="1"/>
          </p:cNvPicPr>
          <p:nvPr/>
        </p:nvPicPr>
        <p:blipFill>
          <a:blip r:embed="rId1"/>
          <a:stretch>
            <a:fillRect/>
          </a:stretch>
        </p:blipFill>
        <p:spPr>
          <a:xfrm>
            <a:off x="8302752" y="1764792"/>
            <a:ext cx="356616" cy="356616"/>
          </a:xfrm>
          <a:prstGeom prst="rect">
            <a:avLst/>
          </a:prstGeom>
        </p:spPr>
      </p:pic>
      <p:sp>
        <p:nvSpPr>
          <p:cNvPr id="7" name="Text 3"/>
          <p:cNvSpPr txBox="1"/>
          <p:nvPr/>
        </p:nvSpPr>
        <p:spPr>
          <a:xfrm>
            <a:off x="9006840" y="1691640"/>
            <a:ext cx="2468880" cy="45720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Model governance</a:t>
            </a:r>
            <a:endParaRPr lang="en-US" sz="1800" dirty="0"/>
          </a:p>
        </p:txBody>
      </p:sp>
      <p:sp>
        <p:nvSpPr>
          <p:cNvPr id="8" name="Text 4"/>
          <p:cNvSpPr txBox="1"/>
          <p:nvPr/>
        </p:nvSpPr>
        <p:spPr>
          <a:xfrm>
            <a:off x="8138160" y="2514600"/>
            <a:ext cx="3291840" cy="34747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Every model ships with its metrics file</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Promotion gate: new scores must be at least as good</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Model 4 is served only if physics agrees</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Missing model? Physics and rules take over, no crash</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The LLM can never act</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8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731520" y="2148840"/>
            <a:ext cx="10698480" cy="1188720"/>
          </a:xfrm>
          <a:prstGeom prst="rect">
            <a:avLst/>
          </a:prstGeom>
          <a:noFill/>
          <a:ln/>
        </p:spPr>
        <p:txBody>
          <a:bodyPr wrap="square" lIns="0" tIns="0" rIns="0" bIns="0" rtlCol="0" anchor="b"/>
          <a:lstStyle/>
          <a:p>
            <a:pPr algn="l" indent="0" marL="0">
              <a:buNone/>
            </a:pPr>
            <a:r>
              <a:rPr lang="en-US" sz="6000" b="1" dirty="0">
                <a:solidFill>
                  <a:schemeClr val="bg1"/>
                </a:solidFill>
                <a:latin typeface="Calibri" pitchFamily="34" charset="0"/>
                <a:ea typeface="Calibri" pitchFamily="34" charset="-122"/>
                <a:cs typeface="Calibri" pitchFamily="34" charset="-120"/>
              </a:rPr>
              <a:t>Sense. Act. Explain.</a:t>
            </a:r>
            <a:endParaRPr lang="en-US" sz="6000" dirty="0"/>
          </a:p>
        </p:txBody>
      </p:sp>
      <p:sp>
        <p:nvSpPr>
          <p:cNvPr id="3" name="Text 0"/>
          <p:cNvSpPr/>
          <p:nvPr>
            <p:ph idx="101" type="body" hasCustomPrompt="1"/>
          </p:nvPr>
        </p:nvSpPr>
        <p:spPr>
          <a:xfrm>
            <a:off x="731520" y="3429000"/>
            <a:ext cx="10698480" cy="1097280"/>
          </a:xfrm>
          <a:prstGeom prst="rect">
            <a:avLst/>
          </a:prstGeom>
          <a:noFill/>
          <a:ln/>
        </p:spPr>
        <p:txBody>
          <a:bodyPr wrap="square" lIns="0" tIns="0" rIns="0" bIns="0" rtlCol="0" anchor="t"/>
          <a:lstStyle/>
          <a:p>
            <a:pPr algn="l" indent="0" marL="0">
              <a:buNone/>
            </a:pPr>
            <a:r>
              <a:rPr lang="en-US" sz="2400" dirty="0">
                <a:solidFill>
                  <a:schemeClr val="accent2"/>
                </a:solidFill>
              </a:rPr>
              <a:t>Thank you. Questions?</a:t>
            </a:r>
            <a:endParaRPr lang="en-US" sz="2400" dirty="0"/>
          </a:p>
        </p:txBody>
      </p:sp>
      <p:sp>
        <p:nvSpPr>
          <p:cNvPr id="4" name="strip led 1"/>
          <p:cNvSpPr/>
          <p:nvPr/>
        </p:nvSpPr>
        <p:spPr>
          <a:xfrm>
            <a:off x="731520" y="1463040"/>
            <a:ext cx="201168" cy="201168"/>
          </a:xfrm>
          <a:prstGeom prst="ellipse">
            <a:avLst/>
          </a:prstGeom>
          <a:solidFill>
            <a:srgbClr val="45D4FF"/>
          </a:solidFill>
          <a:ln w="12700">
            <a:solidFill>
              <a:srgbClr val="45D4FF"/>
            </a:solidFill>
            <a:prstDash val="solid"/>
          </a:ln>
        </p:spPr>
      </p:sp>
      <p:sp>
        <p:nvSpPr>
          <p:cNvPr id="5" name="strip led 2"/>
          <p:cNvSpPr/>
          <p:nvPr/>
        </p:nvSpPr>
        <p:spPr>
          <a:xfrm>
            <a:off x="1078992" y="1463040"/>
            <a:ext cx="201168" cy="201168"/>
          </a:xfrm>
          <a:prstGeom prst="ellipse">
            <a:avLst/>
          </a:prstGeom>
          <a:solidFill>
            <a:srgbClr val="45D4FF"/>
          </a:solidFill>
          <a:ln w="12700">
            <a:solidFill>
              <a:srgbClr val="45D4FF"/>
            </a:solidFill>
            <a:prstDash val="solid"/>
          </a:ln>
        </p:spPr>
      </p:sp>
      <p:sp>
        <p:nvSpPr>
          <p:cNvPr id="6" name="strip led 3"/>
          <p:cNvSpPr/>
          <p:nvPr/>
        </p:nvSpPr>
        <p:spPr>
          <a:xfrm>
            <a:off x="1426464" y="1463040"/>
            <a:ext cx="201168" cy="201168"/>
          </a:xfrm>
          <a:prstGeom prst="ellipse">
            <a:avLst/>
          </a:prstGeom>
          <a:solidFill>
            <a:srgbClr val="2EF29C"/>
          </a:solidFill>
          <a:ln w="12700">
            <a:solidFill>
              <a:srgbClr val="2EF29C"/>
            </a:solidFill>
            <a:prstDash val="solid"/>
          </a:ln>
        </p:spPr>
      </p:sp>
      <p:sp>
        <p:nvSpPr>
          <p:cNvPr id="7" name="strip led 4"/>
          <p:cNvSpPr/>
          <p:nvPr/>
        </p:nvSpPr>
        <p:spPr>
          <a:xfrm>
            <a:off x="1773936" y="1463040"/>
            <a:ext cx="201168" cy="201168"/>
          </a:xfrm>
          <a:prstGeom prst="ellipse">
            <a:avLst/>
          </a:prstGeom>
          <a:solidFill>
            <a:srgbClr val="2EF29C"/>
          </a:solidFill>
          <a:ln w="12700">
            <a:solidFill>
              <a:srgbClr val="2EF29C"/>
            </a:solidFill>
            <a:prstDash val="solid"/>
          </a:ln>
        </p:spPr>
      </p:sp>
      <p:sp>
        <p:nvSpPr>
          <p:cNvPr id="8" name="strip led 5"/>
          <p:cNvSpPr/>
          <p:nvPr/>
        </p:nvSpPr>
        <p:spPr>
          <a:xfrm>
            <a:off x="2121408" y="1463040"/>
            <a:ext cx="201168" cy="201168"/>
          </a:xfrm>
          <a:prstGeom prst="ellipse">
            <a:avLst/>
          </a:prstGeom>
          <a:solidFill>
            <a:srgbClr val="B6F03A"/>
          </a:solidFill>
          <a:ln w="12700">
            <a:solidFill>
              <a:srgbClr val="B6F03A"/>
            </a:solidFill>
            <a:prstDash val="solid"/>
          </a:ln>
        </p:spPr>
      </p:sp>
      <p:sp>
        <p:nvSpPr>
          <p:cNvPr id="9" name="strip led 6"/>
          <p:cNvSpPr/>
          <p:nvPr/>
        </p:nvSpPr>
        <p:spPr>
          <a:xfrm>
            <a:off x="2468880" y="1463040"/>
            <a:ext cx="201168" cy="201168"/>
          </a:xfrm>
          <a:prstGeom prst="ellipse">
            <a:avLst/>
          </a:prstGeom>
          <a:solidFill>
            <a:srgbClr val="B6F03A"/>
          </a:solidFill>
          <a:ln w="12700">
            <a:solidFill>
              <a:srgbClr val="B6F03A"/>
            </a:solidFill>
            <a:prstDash val="solid"/>
          </a:ln>
        </p:spPr>
      </p:sp>
      <p:sp>
        <p:nvSpPr>
          <p:cNvPr id="10" name="strip led 7"/>
          <p:cNvSpPr/>
          <p:nvPr/>
        </p:nvSpPr>
        <p:spPr>
          <a:xfrm>
            <a:off x="2816352" y="1463040"/>
            <a:ext cx="201168" cy="201168"/>
          </a:xfrm>
          <a:prstGeom prst="ellipse">
            <a:avLst/>
          </a:prstGeom>
          <a:solidFill>
            <a:srgbClr val="FF9A14"/>
          </a:solidFill>
          <a:ln w="12700">
            <a:solidFill>
              <a:srgbClr val="FF9A14"/>
            </a:solidFill>
            <a:prstDash val="solid"/>
          </a:ln>
        </p:spPr>
      </p:sp>
      <p:sp>
        <p:nvSpPr>
          <p:cNvPr id="11" name="strip led 8"/>
          <p:cNvSpPr/>
          <p:nvPr/>
        </p:nvSpPr>
        <p:spPr>
          <a:xfrm>
            <a:off x="3163824" y="1463040"/>
            <a:ext cx="201168" cy="201168"/>
          </a:xfrm>
          <a:prstGeom prst="ellipse">
            <a:avLst/>
          </a:prstGeom>
          <a:solidFill>
            <a:srgbClr val="FF2A4A"/>
          </a:solidFill>
          <a:ln w="12700">
            <a:solidFill>
              <a:srgbClr val="FF2A4A"/>
            </a:solidFill>
            <a:prstDash val="solid"/>
          </a:ln>
        </p:spPr>
      </p:sp>
      <p:sp>
        <p:nvSpPr>
          <p:cNvPr id="12" name="strip led 9"/>
          <p:cNvSpPr/>
          <p:nvPr/>
        </p:nvSpPr>
        <p:spPr>
          <a:xfrm>
            <a:off x="3511296" y="1463040"/>
            <a:ext cx="201168" cy="201168"/>
          </a:xfrm>
          <a:prstGeom prst="ellipse">
            <a:avLst/>
          </a:prstGeom>
          <a:solidFill>
            <a:srgbClr val="9B4DFF"/>
          </a:solidFill>
          <a:ln w="12700">
            <a:solidFill>
              <a:srgbClr val="9B4DFF"/>
            </a:solidFill>
            <a:prstDash val="solid"/>
          </a:ln>
        </p:spPr>
      </p:sp>
      <p:sp>
        <p:nvSpPr>
          <p:cNvPr id="13" name="strip led 10"/>
          <p:cNvSpPr/>
          <p:nvPr/>
        </p:nvSpPr>
        <p:spPr>
          <a:xfrm>
            <a:off x="3858768" y="1463040"/>
            <a:ext cx="201168" cy="201168"/>
          </a:xfrm>
          <a:prstGeom prst="ellipse">
            <a:avLst/>
          </a:prstGeom>
          <a:solidFill>
            <a:srgbClr val="FF4FB0"/>
          </a:solidFill>
          <a:ln w="12700">
            <a:solidFill>
              <a:srgbClr val="FF4FB0"/>
            </a:solidFill>
            <a:prstDash val="solid"/>
          </a:ln>
        </p:spPr>
      </p:sp>
      <p:sp>
        <p:nvSpPr>
          <p:cNvPr id="14" name="strip led 11"/>
          <p:cNvSpPr/>
          <p:nvPr/>
        </p:nvSpPr>
        <p:spPr>
          <a:xfrm>
            <a:off x="4206240" y="1463040"/>
            <a:ext cx="201168" cy="201168"/>
          </a:xfrm>
          <a:prstGeom prst="ellipse">
            <a:avLst/>
          </a:prstGeom>
          <a:solidFill>
            <a:srgbClr val="3D6BFF"/>
          </a:solidFill>
          <a:ln w="12700">
            <a:solidFill>
              <a:srgbClr val="3D6BFF"/>
            </a:solidFill>
            <a:prstDash val="solid"/>
          </a:ln>
        </p:spPr>
      </p:sp>
      <p:sp>
        <p:nvSpPr>
          <p:cNvPr id="15" name="Text 13"/>
          <p:cNvSpPr txBox="1"/>
          <p:nvPr/>
        </p:nvSpPr>
        <p:spPr>
          <a:xfrm>
            <a:off x="731520" y="5212080"/>
            <a:ext cx="10515600" cy="365760"/>
          </a:xfrm>
          <a:prstGeom prst="rect">
            <a:avLst/>
          </a:prstGeom>
          <a:noFill/>
          <a:ln/>
        </p:spPr>
        <p:txBody>
          <a:bodyPr wrap="square" lIns="0" tIns="0" rIns="0" bIns="0" rtlCol="0" anchor="t"/>
          <a:lstStyle/>
          <a:p>
            <a:pPr indent="0" marL="0">
              <a:buNone/>
            </a:pPr>
            <a:r>
              <a:rPr lang="en-US" sz="1400" dirty="0">
                <a:solidFill>
                  <a:schemeClr val="accent2"/>
                </a:solidFill>
                <a:latin typeface="Calibri" pitchFamily="34" charset="0"/>
                <a:ea typeface="Calibri" pitchFamily="34" charset="-122"/>
                <a:cs typeface="Calibri" pitchFamily="34" charset="-120"/>
              </a:rPr>
              <a:t>Code: github.com/UzairManjre/frostmind   |   Documentation: FROSTMIND_Phase7_Documentation.docx</a:t>
            </a:r>
            <a:endParaRPr lang="en-US" sz="1400" dirty="0"/>
          </a:p>
        </p:txBody>
      </p:sp>
    </p:spTree>
  </p:cSld>
  <p:clrMapOvr>
    <a:masterClrMapping/>
  </p:clrMapOvr>
</p:sld>
</file>

<file path=ppt/theme/theme1.xml><?xml version="1.0" encoding="utf-8"?>
<a:theme xmlns:a="http://schemas.openxmlformats.org/drawingml/2006/main" name="FROSTMIND Frost">
  <a:themeElements>
    <a:clrScheme name="FROSTMIND Frost">
      <a:dk1>
        <a:srgbClr val="0B1736"/>
      </a:dk1>
      <a:lt1>
        <a:srgbClr val="FFFFFF"/>
      </a:lt1>
      <a:dk2>
        <a:srgbClr val="5B6785"/>
      </a:dk2>
      <a:lt2>
        <a:srgbClr val="EEF3FF"/>
      </a:lt2>
      <a:accent1>
        <a:srgbClr val="2457FF"/>
      </a:accent1>
      <a:accent2>
        <a:srgbClr val="45D4FF"/>
      </a:accent2>
      <a:accent3>
        <a:srgbClr val="2EF29C"/>
      </a:accent3>
      <a:accent4>
        <a:srgbClr val="FF9A14"/>
      </a:accent4>
      <a:accent5>
        <a:srgbClr val="FF2A4A"/>
      </a:accent5>
      <a:accent6>
        <a:srgbClr val="8B5CF6"/>
      </a:accent6>
      <a:hlink>
        <a:srgbClr val="2457FF"/>
      </a:hlink>
      <a:folHlink>
        <a:srgbClr val="8B5CF6"/>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FROSTMIND - Phase 7: Deployment, Documentation and Presentation</dc:title>
  <dc:subject>PptxGenJS Presentation</dc:subject>
  <dc:creator>Team FROSTMIND</dc:creator>
  <cp:lastModifiedBy>Team FROSTMIND</cp:lastModifiedBy>
  <cp:revision>1</cp:revision>
  <dcterms:created xsi:type="dcterms:W3CDTF">2026-10-27T15:35:20Z</dcterms:created>
  <dcterms:modified xsi:type="dcterms:W3CDTF">2026-10-27T15:35:20Z</dcterms:modified>
</cp:coreProperties>
</file>